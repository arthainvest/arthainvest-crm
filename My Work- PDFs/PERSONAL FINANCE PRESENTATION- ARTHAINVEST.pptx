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83" r:id="rId3"/>
    <p:sldId id="279" r:id="rId4"/>
    <p:sldId id="278" r:id="rId5"/>
    <p:sldId id="257" r:id="rId6"/>
    <p:sldId id="258" r:id="rId7"/>
    <p:sldId id="259" r:id="rId8"/>
    <p:sldId id="262" r:id="rId9"/>
    <p:sldId id="261" r:id="rId10"/>
    <p:sldId id="263" r:id="rId11"/>
    <p:sldId id="260" r:id="rId12"/>
    <p:sldId id="264" r:id="rId13"/>
    <p:sldId id="265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nva Sans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Nunito" pitchFamily="2" charset="0"/>
      <p:regular r:id="rId27"/>
      <p:bold r:id="rId28"/>
      <p:italic r:id="rId29"/>
      <p:boldItalic r:id="rId30"/>
    </p:embeddedFont>
    <p:embeddedFont>
      <p:font typeface="Nunito Bold" charset="0"/>
      <p:regular r:id="rId31"/>
    </p:embeddedFont>
    <p:embeddedFont>
      <p:font typeface="Nunito Sans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5A6C4-15A2-4BF8-BA77-558FC39B3887}" v="16" dt="2024-04-23T06:02:14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ECDBE-C6D8-43F4-8EF4-BA1A8D48B3DE}" type="datetimeFigureOut">
              <a:rPr lang="en-IN" smtClean="0"/>
              <a:t>05-06-2024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7CE9F-FF6C-4788-93FB-5EFD96B47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45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Biggest enemy of investment…?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7CE9F-FF6C-4788-93FB-5EFD96B47FE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95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These guys understand better inflation then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7CE9F-FF6C-4788-93FB-5EFD96B47FE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284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10896600" y="2724665"/>
            <a:ext cx="7032498" cy="7081156"/>
          </a:xfrm>
          <a:custGeom>
            <a:avLst/>
            <a:gdLst/>
            <a:ahLst/>
            <a:cxnLst/>
            <a:rect l="l" t="t" r="r" b="b"/>
            <a:pathLst>
              <a:path w="7032498" h="6955780">
                <a:moveTo>
                  <a:pt x="7032498" y="0"/>
                </a:moveTo>
                <a:lnTo>
                  <a:pt x="0" y="0"/>
                </a:lnTo>
                <a:lnTo>
                  <a:pt x="0" y="6955781"/>
                </a:lnTo>
                <a:lnTo>
                  <a:pt x="7032498" y="6955781"/>
                </a:lnTo>
                <a:lnTo>
                  <a:pt x="70324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8112" y="1152525"/>
            <a:ext cx="10866688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442"/>
              </a:lnSpc>
            </a:pPr>
            <a:r>
              <a:rPr lang="en-US" sz="8000" b="1" i="1" u="sng" spc="-131" dirty="0">
                <a:solidFill>
                  <a:schemeClr val="tx2">
                    <a:lumMod val="60000"/>
                    <a:lumOff val="40000"/>
                  </a:schemeClr>
                </a:solidFill>
                <a:latin typeface="Nunito" pitchFamily="2" charset="0"/>
              </a:rPr>
              <a:t>PERSONAL FINANCE &amp; INVESTMENTS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F0D56B-11A4-CD6B-E670-BF7BFDFF9D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4663439"/>
            <a:ext cx="792482" cy="5181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D6CAEE-D657-D4AE-AB15-F4A7DEFEE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7810501"/>
            <a:ext cx="2817386" cy="1842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4" t="-17255" r="-2356" b="-396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2276" y="1167797"/>
            <a:ext cx="17123448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8800" dirty="0">
                <a:solidFill>
                  <a:srgbClr val="000000"/>
                </a:solidFill>
                <a:latin typeface="Nunito Bold" charset="0"/>
              </a:rPr>
              <a:t>Why Financial Wellness Matters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4381500"/>
            <a:ext cx="12033329" cy="2902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6" lvl="1" indent="-431798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 pitchFamily="2" charset="0"/>
              </a:rPr>
              <a:t>Reduce Stress</a:t>
            </a:r>
          </a:p>
          <a:p>
            <a:pPr marL="863596" lvl="1" indent="-431798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 pitchFamily="2" charset="0"/>
              </a:rPr>
              <a:t>Improve Personal life</a:t>
            </a:r>
          </a:p>
          <a:p>
            <a:pPr marL="863596" lvl="1" indent="-431798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Nunito" pitchFamily="2" charset="0"/>
              </a:rPr>
              <a:t>Enhance Career Satisfaction</a:t>
            </a:r>
          </a:p>
          <a:p>
            <a:pPr>
              <a:lnSpc>
                <a:spcPts val="6439"/>
              </a:lnSpc>
            </a:pPr>
            <a:endParaRPr lang="en-US" sz="3999" dirty="0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B227-77B6-519B-FF5E-FB8BAC4E8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5300"/>
            <a:ext cx="17297400" cy="1600200"/>
          </a:xfrm>
        </p:spPr>
        <p:txBody>
          <a:bodyPr>
            <a:noAutofit/>
          </a:bodyPr>
          <a:lstStyle/>
          <a:p>
            <a:br>
              <a:rPr lang="en-US" sz="5400" b="1" u="sng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Nunito" pitchFamily="2" charset="0"/>
              </a:rPr>
            </a:br>
            <a:r>
              <a:rPr lang="en-US" sz="6000" b="1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unito" pitchFamily="2" charset="0"/>
              </a:rPr>
              <a:t>Some of the questions that will be answered </a:t>
            </a:r>
            <a:br>
              <a:rPr lang="en-US" sz="5400" dirty="0">
                <a:solidFill>
                  <a:schemeClr val="tx2">
                    <a:lumMod val="40000"/>
                    <a:lumOff val="60000"/>
                  </a:schemeClr>
                </a:solidFill>
                <a:latin typeface="Nunito" pitchFamily="2" charset="0"/>
              </a:rPr>
            </a:br>
            <a:endParaRPr lang="en-IN" sz="5400" dirty="0">
              <a:solidFill>
                <a:schemeClr val="tx2">
                  <a:lumMod val="40000"/>
                  <a:lumOff val="60000"/>
                </a:schemeClr>
              </a:solidFill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A27AA-C9FF-3C54-1CE2-ACA2C2328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476500"/>
            <a:ext cx="15697200" cy="6781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Nunito" pitchFamily="2" charset="0"/>
              </a:rPr>
              <a:t>How to do Goal-based Investing</a:t>
            </a:r>
          </a:p>
          <a:p>
            <a:r>
              <a:rPr lang="en-US" sz="3600" dirty="0">
                <a:latin typeface="Nunito" pitchFamily="2" charset="0"/>
              </a:rPr>
              <a:t>How do I save for my kids </a:t>
            </a:r>
            <a:r>
              <a:rPr lang="en-US" sz="3600" dirty="0" err="1">
                <a:latin typeface="Nunito" pitchFamily="2" charset="0"/>
              </a:rPr>
              <a:t>Eductaion</a:t>
            </a:r>
            <a:endParaRPr lang="en-US" sz="3600" dirty="0">
              <a:latin typeface="Nunito" pitchFamily="2" charset="0"/>
            </a:endParaRPr>
          </a:p>
          <a:p>
            <a:r>
              <a:rPr lang="en-US" sz="3600" dirty="0">
                <a:latin typeface="Nunito" pitchFamily="2" charset="0"/>
              </a:rPr>
              <a:t>SIP in Mutual funds vs Direct Equities</a:t>
            </a:r>
          </a:p>
          <a:p>
            <a:r>
              <a:rPr lang="en-US" sz="3600" dirty="0">
                <a:latin typeface="Nunito" pitchFamily="2" charset="0"/>
              </a:rPr>
              <a:t>Term Insurance Plans vs Traditional Insurance Plans</a:t>
            </a:r>
          </a:p>
          <a:p>
            <a:r>
              <a:rPr lang="en-US" sz="3600" dirty="0">
                <a:latin typeface="Nunito" pitchFamily="2" charset="0"/>
              </a:rPr>
              <a:t>Should I invest in NPS</a:t>
            </a:r>
          </a:p>
          <a:p>
            <a:r>
              <a:rPr lang="en-US" sz="3600" dirty="0">
                <a:latin typeface="Nunito" pitchFamily="2" charset="0"/>
              </a:rPr>
              <a:t>How do I save for my  </a:t>
            </a:r>
            <a:r>
              <a:rPr lang="en-US" sz="3600" dirty="0" err="1">
                <a:latin typeface="Nunito" pitchFamily="2" charset="0"/>
              </a:rPr>
              <a:t>centre</a:t>
            </a:r>
            <a:r>
              <a:rPr lang="en-US" sz="3600" dirty="0">
                <a:latin typeface="Nunito" pitchFamily="2" charset="0"/>
              </a:rPr>
              <a:t>.</a:t>
            </a:r>
          </a:p>
          <a:p>
            <a:r>
              <a:rPr lang="en-US" sz="3600" dirty="0">
                <a:latin typeface="Nunito" pitchFamily="2" charset="0"/>
              </a:rPr>
              <a:t>Should I rely on Insurance provided by Employer</a:t>
            </a:r>
          </a:p>
          <a:p>
            <a:r>
              <a:rPr lang="en-US" sz="3600" dirty="0">
                <a:latin typeface="Nunito" pitchFamily="2" charset="0"/>
              </a:rPr>
              <a:t>Buying a home vs Renting a home</a:t>
            </a:r>
          </a:p>
          <a:p>
            <a:r>
              <a:rPr lang="en-US" sz="3600" dirty="0">
                <a:latin typeface="Nunito" pitchFamily="2" charset="0"/>
              </a:rPr>
              <a:t>Investments Mistakes/Myths </a:t>
            </a:r>
          </a:p>
          <a:p>
            <a:r>
              <a:rPr lang="en-US" sz="3600" dirty="0">
                <a:latin typeface="Nunito" pitchFamily="2" charset="0"/>
              </a:rPr>
              <a:t>Portfolio Review and Rebalancing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03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84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18B1B-20DB-4911-9FF5-EBFDC5CE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A8F3CDA-16E0-6328-B194-1AF454F2303A}"/>
              </a:ext>
            </a:extLst>
          </p:cNvPr>
          <p:cNvSpPr txBox="1"/>
          <p:nvPr/>
        </p:nvSpPr>
        <p:spPr>
          <a:xfrm>
            <a:off x="8398106" y="1939469"/>
            <a:ext cx="9657212" cy="246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600" spc="-85" dirty="0">
                <a:solidFill>
                  <a:srgbClr val="FFFFFF"/>
                </a:solidFill>
                <a:latin typeface="Nunito Bold"/>
              </a:rPr>
              <a:t>What are the two major Risks in Life</a:t>
            </a:r>
            <a:r>
              <a:rPr kumimoji="0" lang="en-US" sz="8600" b="0" i="0" u="none" strike="noStrike" kern="120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Bold"/>
                <a:ea typeface="+mn-ea"/>
                <a:cs typeface="+mn-cs"/>
              </a:rPr>
              <a:t>?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3426D2-F7DB-9FB7-9254-E3A1763EC082}"/>
              </a:ext>
            </a:extLst>
          </p:cNvPr>
          <p:cNvSpPr/>
          <p:nvPr/>
        </p:nvSpPr>
        <p:spPr>
          <a:xfrm>
            <a:off x="1028700" y="8635737"/>
            <a:ext cx="16230600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417EFC-EBEA-8146-D1C6-3CC820A2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40376"/>
            <a:ext cx="5638079" cy="661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4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9564" y="1408849"/>
            <a:ext cx="13168872" cy="5966593"/>
          </a:xfrm>
          <a:custGeom>
            <a:avLst/>
            <a:gdLst/>
            <a:ahLst/>
            <a:cxnLst/>
            <a:rect l="l" t="t" r="r" b="b"/>
            <a:pathLst>
              <a:path w="13168872" h="5966593">
                <a:moveTo>
                  <a:pt x="0" y="0"/>
                </a:moveTo>
                <a:lnTo>
                  <a:pt x="13168872" y="0"/>
                </a:lnTo>
                <a:lnTo>
                  <a:pt x="13168872" y="5966593"/>
                </a:lnTo>
                <a:lnTo>
                  <a:pt x="0" y="5966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14980" y="7495341"/>
            <a:ext cx="3190992" cy="2587551"/>
          </a:xfrm>
          <a:custGeom>
            <a:avLst/>
            <a:gdLst/>
            <a:ahLst/>
            <a:cxnLst/>
            <a:rect l="l" t="t" r="r" b="b"/>
            <a:pathLst>
              <a:path w="3190992" h="2587551">
                <a:moveTo>
                  <a:pt x="0" y="0"/>
                </a:moveTo>
                <a:lnTo>
                  <a:pt x="3190992" y="0"/>
                </a:lnTo>
                <a:lnTo>
                  <a:pt x="3190992" y="2587552"/>
                </a:lnTo>
                <a:lnTo>
                  <a:pt x="0" y="2587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81641" y="7661349"/>
            <a:ext cx="3060545" cy="2587551"/>
          </a:xfrm>
          <a:custGeom>
            <a:avLst/>
            <a:gdLst/>
            <a:ahLst/>
            <a:cxnLst/>
            <a:rect l="l" t="t" r="r" b="b"/>
            <a:pathLst>
              <a:path w="3060545" h="2587551">
                <a:moveTo>
                  <a:pt x="0" y="0"/>
                </a:moveTo>
                <a:lnTo>
                  <a:pt x="3060545" y="0"/>
                </a:lnTo>
                <a:lnTo>
                  <a:pt x="3060545" y="2587552"/>
                </a:lnTo>
                <a:lnTo>
                  <a:pt x="0" y="2587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63414" y="8911350"/>
            <a:ext cx="1791772" cy="1171543"/>
          </a:xfrm>
          <a:custGeom>
            <a:avLst/>
            <a:gdLst/>
            <a:ahLst/>
            <a:cxnLst/>
            <a:rect l="l" t="t" r="r" b="b"/>
            <a:pathLst>
              <a:path w="1791772" h="1171543">
                <a:moveTo>
                  <a:pt x="0" y="0"/>
                </a:moveTo>
                <a:lnTo>
                  <a:pt x="1791772" y="0"/>
                </a:lnTo>
                <a:lnTo>
                  <a:pt x="1791772" y="1171543"/>
                </a:lnTo>
                <a:lnTo>
                  <a:pt x="0" y="1171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69441"/>
            <a:ext cx="16573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50"/>
              </a:lnSpc>
            </a:pPr>
            <a:r>
              <a:rPr lang="en-US" sz="8500" spc="-85" dirty="0">
                <a:solidFill>
                  <a:srgbClr val="3884FD"/>
                </a:solidFill>
                <a:latin typeface="Nunito Bold"/>
              </a:rPr>
              <a:t>Financial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15021" y="3305462"/>
            <a:ext cx="5644279" cy="5981413"/>
          </a:xfrm>
          <a:custGeom>
            <a:avLst/>
            <a:gdLst/>
            <a:ahLst/>
            <a:cxnLst/>
            <a:rect l="l" t="t" r="r" b="b"/>
            <a:pathLst>
              <a:path w="5644279" h="5981413">
                <a:moveTo>
                  <a:pt x="0" y="0"/>
                </a:moveTo>
                <a:lnTo>
                  <a:pt x="5644279" y="0"/>
                </a:lnTo>
                <a:lnTo>
                  <a:pt x="5644279" y="5981413"/>
                </a:lnTo>
                <a:lnTo>
                  <a:pt x="0" y="598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427073" y="9258300"/>
            <a:ext cx="5832227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2521275"/>
          <a:ext cx="9380764" cy="6737025"/>
        </p:xfrm>
        <a:graphic>
          <a:graphicData uri="http://schemas.openxmlformats.org/drawingml/2006/table">
            <a:tbl>
              <a:tblPr/>
              <a:tblGrid>
                <a:gridCol w="130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3501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884FD"/>
                          </a:solidFill>
                          <a:latin typeface="Nunito Sans Bold"/>
                        </a:rPr>
                        <a:t>01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3884FD"/>
                          </a:solidFill>
                          <a:latin typeface="Nunito Sans Bold"/>
                        </a:rPr>
                        <a:t>Return of Capital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399" dirty="0">
                          <a:solidFill>
                            <a:srgbClr val="243762"/>
                          </a:solidFill>
                          <a:latin typeface="Nunito"/>
                        </a:rPr>
                        <a:t>Payment that an investor receives as a portion of their original investment and that is not considered income or capital gains from the investment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8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392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884FD"/>
                          </a:solidFill>
                          <a:latin typeface="Nunito Sans Bold"/>
                        </a:rPr>
                        <a:t>02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3884FD"/>
                          </a:solidFill>
                          <a:latin typeface="Nunito Sans Bold"/>
                        </a:rPr>
                        <a:t>Liquidity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9727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399" dirty="0">
                          <a:solidFill>
                            <a:srgbClr val="243762"/>
                          </a:solidFill>
                          <a:latin typeface="Nunito"/>
                        </a:rPr>
                        <a:t>The degree to which a security can be quickly purchased or sold in the market at a price reflecting its current value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884FD"/>
                          </a:solidFill>
                          <a:latin typeface="Nunito Sans Bold"/>
                        </a:rPr>
                        <a:t>03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 dirty="0">
                          <a:solidFill>
                            <a:srgbClr val="3884FD"/>
                          </a:solidFill>
                          <a:latin typeface="Nunito Sans Bold"/>
                        </a:rPr>
                        <a:t>Return on Capital 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399" dirty="0">
                          <a:solidFill>
                            <a:srgbClr val="243762"/>
                          </a:solidFill>
                          <a:latin typeface="Nunito"/>
                        </a:rPr>
                        <a:t>Measures a company's net income relative to the sum of its debt and equity value.</a:t>
                      </a:r>
                      <a:endParaRPr lang="en-US" sz="11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16363414" y="128604"/>
            <a:ext cx="1791772" cy="1171543"/>
          </a:xfrm>
          <a:custGeom>
            <a:avLst/>
            <a:gdLst/>
            <a:ahLst/>
            <a:cxnLst/>
            <a:rect l="l" t="t" r="r" b="b"/>
            <a:pathLst>
              <a:path w="1791772" h="1171543">
                <a:moveTo>
                  <a:pt x="0" y="0"/>
                </a:moveTo>
                <a:lnTo>
                  <a:pt x="1791772" y="0"/>
                </a:lnTo>
                <a:lnTo>
                  <a:pt x="1791772" y="1171542"/>
                </a:lnTo>
                <a:lnTo>
                  <a:pt x="0" y="1171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69441"/>
            <a:ext cx="10140706" cy="120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349"/>
              </a:lnSpc>
            </a:pPr>
            <a:r>
              <a:rPr lang="en-US" sz="8499" spc="-84">
                <a:solidFill>
                  <a:srgbClr val="243762"/>
                </a:solidFill>
                <a:latin typeface="Nunito Bold"/>
              </a:rPr>
              <a:t>Rules Of Investing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44776" y="0"/>
            <a:ext cx="9543224" cy="10287000"/>
          </a:xfrm>
          <a:custGeom>
            <a:avLst/>
            <a:gdLst/>
            <a:ahLst/>
            <a:cxnLst/>
            <a:rect l="l" t="t" r="r" b="b"/>
            <a:pathLst>
              <a:path w="9543224" h="10287000">
                <a:moveTo>
                  <a:pt x="0" y="0"/>
                </a:moveTo>
                <a:lnTo>
                  <a:pt x="9543224" y="0"/>
                </a:lnTo>
                <a:lnTo>
                  <a:pt x="95432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5237" y="792464"/>
            <a:ext cx="6453824" cy="3720948"/>
          </a:xfrm>
          <a:custGeom>
            <a:avLst/>
            <a:gdLst/>
            <a:ahLst/>
            <a:cxnLst/>
            <a:rect l="l" t="t" r="r" b="b"/>
            <a:pathLst>
              <a:path w="6453824" h="3720948">
                <a:moveTo>
                  <a:pt x="0" y="0"/>
                </a:moveTo>
                <a:lnTo>
                  <a:pt x="6453824" y="0"/>
                </a:lnTo>
                <a:lnTo>
                  <a:pt x="6453824" y="3720948"/>
                </a:lnTo>
                <a:lnTo>
                  <a:pt x="0" y="3720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6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5237" y="5490482"/>
            <a:ext cx="6453824" cy="4148887"/>
          </a:xfrm>
          <a:custGeom>
            <a:avLst/>
            <a:gdLst/>
            <a:ahLst/>
            <a:cxnLst/>
            <a:rect l="l" t="t" r="r" b="b"/>
            <a:pathLst>
              <a:path w="6453824" h="4148887">
                <a:moveTo>
                  <a:pt x="0" y="0"/>
                </a:moveTo>
                <a:lnTo>
                  <a:pt x="6453824" y="0"/>
                </a:lnTo>
                <a:lnTo>
                  <a:pt x="6453824" y="4148887"/>
                </a:lnTo>
                <a:lnTo>
                  <a:pt x="0" y="41488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39061" y="1935864"/>
            <a:ext cx="1905715" cy="137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dirty="0">
                <a:solidFill>
                  <a:srgbClr val="000000"/>
                </a:solidFill>
                <a:latin typeface="Canva Sans Bold"/>
              </a:rPr>
              <a:t>Year 2000: 20 Lacs</a:t>
            </a:r>
          </a:p>
          <a:p>
            <a:pPr algn="ctr">
              <a:lnSpc>
                <a:spcPts val="3639"/>
              </a:lnSpc>
            </a:pPr>
            <a:endParaRPr lang="en-US" sz="2599" dirty="0">
              <a:solidFill>
                <a:srgbClr val="000000"/>
              </a:solidFill>
              <a:latin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39061" y="6990727"/>
            <a:ext cx="1905715" cy="1376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anva Sans Bold"/>
              </a:rPr>
              <a:t>Year 2011: 1cr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Canva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32657" y="183408"/>
            <a:ext cx="3581400" cy="1373813"/>
            <a:chOff x="0" y="0"/>
            <a:chExt cx="7020768" cy="3382525"/>
          </a:xfrm>
        </p:grpSpPr>
        <p:sp>
          <p:nvSpPr>
            <p:cNvPr id="4" name="Freeform 4"/>
            <p:cNvSpPr/>
            <p:nvPr/>
          </p:nvSpPr>
          <p:spPr>
            <a:xfrm flipH="1">
              <a:off x="703223" y="0"/>
              <a:ext cx="2896672" cy="3382525"/>
            </a:xfrm>
            <a:custGeom>
              <a:avLst/>
              <a:gdLst/>
              <a:ahLst/>
              <a:cxnLst/>
              <a:rect l="l" t="t" r="r" b="b"/>
              <a:pathLst>
                <a:path w="2896672" h="3382525">
                  <a:moveTo>
                    <a:pt x="2896672" y="0"/>
                  </a:moveTo>
                  <a:lnTo>
                    <a:pt x="0" y="0"/>
                  </a:lnTo>
                  <a:lnTo>
                    <a:pt x="0" y="3382525"/>
                  </a:lnTo>
                  <a:lnTo>
                    <a:pt x="2896672" y="3382525"/>
                  </a:lnTo>
                  <a:lnTo>
                    <a:pt x="289667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AutoShape 5"/>
            <p:cNvSpPr/>
            <p:nvPr/>
          </p:nvSpPr>
          <p:spPr>
            <a:xfrm>
              <a:off x="0" y="3360497"/>
              <a:ext cx="7020768" cy="0"/>
            </a:xfrm>
            <a:prstGeom prst="line">
              <a:avLst/>
            </a:prstGeom>
            <a:ln w="17623" cap="rnd">
              <a:solidFill>
                <a:srgbClr val="24376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Freeform 6"/>
            <p:cNvSpPr/>
            <p:nvPr/>
          </p:nvSpPr>
          <p:spPr>
            <a:xfrm>
              <a:off x="2438042" y="1804730"/>
              <a:ext cx="3214028" cy="1577796"/>
            </a:xfrm>
            <a:custGeom>
              <a:avLst/>
              <a:gdLst/>
              <a:ahLst/>
              <a:cxnLst/>
              <a:rect l="l" t="t" r="r" b="b"/>
              <a:pathLst>
                <a:path w="3214028" h="1577796">
                  <a:moveTo>
                    <a:pt x="0" y="0"/>
                  </a:moveTo>
                  <a:lnTo>
                    <a:pt x="3214028" y="0"/>
                  </a:lnTo>
                  <a:lnTo>
                    <a:pt x="3214028" y="1577795"/>
                  </a:lnTo>
                  <a:lnTo>
                    <a:pt x="0" y="1577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5321902" y="2147203"/>
              <a:ext cx="660336" cy="1235323"/>
            </a:xfrm>
            <a:custGeom>
              <a:avLst/>
              <a:gdLst/>
              <a:ahLst/>
              <a:cxnLst/>
              <a:rect l="l" t="t" r="r" b="b"/>
              <a:pathLst>
                <a:path w="660336" h="1235323">
                  <a:moveTo>
                    <a:pt x="0" y="0"/>
                  </a:moveTo>
                  <a:lnTo>
                    <a:pt x="660336" y="0"/>
                  </a:lnTo>
                  <a:lnTo>
                    <a:pt x="660336" y="1235322"/>
                  </a:lnTo>
                  <a:lnTo>
                    <a:pt x="0" y="1235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3578616" y="107136"/>
            <a:ext cx="4709384" cy="10179864"/>
            <a:chOff x="0" y="0"/>
            <a:chExt cx="1240332" cy="26811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0332" cy="2681116"/>
            </a:xfrm>
            <a:custGeom>
              <a:avLst/>
              <a:gdLst/>
              <a:ahLst/>
              <a:cxnLst/>
              <a:rect l="l" t="t" r="r" b="b"/>
              <a:pathLst>
                <a:path w="1240332" h="2681116">
                  <a:moveTo>
                    <a:pt x="83841" y="0"/>
                  </a:moveTo>
                  <a:lnTo>
                    <a:pt x="1156491" y="0"/>
                  </a:lnTo>
                  <a:cubicBezTo>
                    <a:pt x="1202795" y="0"/>
                    <a:pt x="1240332" y="37537"/>
                    <a:pt x="1240332" y="83841"/>
                  </a:cubicBezTo>
                  <a:lnTo>
                    <a:pt x="1240332" y="2597276"/>
                  </a:lnTo>
                  <a:cubicBezTo>
                    <a:pt x="1240332" y="2619512"/>
                    <a:pt x="1231498" y="2640837"/>
                    <a:pt x="1215775" y="2656560"/>
                  </a:cubicBezTo>
                  <a:cubicBezTo>
                    <a:pt x="1200052" y="2672283"/>
                    <a:pt x="1178727" y="2681116"/>
                    <a:pt x="1156491" y="2681116"/>
                  </a:cubicBezTo>
                  <a:lnTo>
                    <a:pt x="83841" y="2681116"/>
                  </a:lnTo>
                  <a:cubicBezTo>
                    <a:pt x="37537" y="2681116"/>
                    <a:pt x="0" y="2643580"/>
                    <a:pt x="0" y="2597276"/>
                  </a:cubicBezTo>
                  <a:lnTo>
                    <a:pt x="0" y="83841"/>
                  </a:lnTo>
                  <a:cubicBezTo>
                    <a:pt x="0" y="61605"/>
                    <a:pt x="8833" y="40280"/>
                    <a:pt x="24556" y="24556"/>
                  </a:cubicBezTo>
                  <a:cubicBezTo>
                    <a:pt x="40280" y="8833"/>
                    <a:pt x="61605" y="0"/>
                    <a:pt x="83841" y="0"/>
                  </a:cubicBezTo>
                  <a:close/>
                </a:path>
              </a:pathLst>
            </a:custGeom>
            <a:solidFill>
              <a:srgbClr val="24376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40332" cy="2709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endParaRPr dirty="0"/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•Absence of any pattern in the returns of asset classes from one year to the next.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Do not predict the next winning asset class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A diversified portfolio may not deliver the highest return in any given year but will perform competitively across market cycles.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Exception of Small Cap in 2020 and 2021, different asset classes on top in each year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Apart from 2016, Gold either ends up being amongst the best asset class in some years and worst in others. No middle way.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Perfect hedge?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Gold slid to bottom of table for 3 years following its run at the top and remained a laggard for 6 years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No market linked product for emergency/short term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Large Cap Funds a no brainer. Apart from 2015 ,large caps have always given positive returns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2020 was covid year. My March, even 40 years of experienced experts predicted doomsday. No asset class gave negative returns. Most were proved wrong. No one can predict correctly.</a:t>
              </a:r>
            </a:p>
            <a:p>
              <a:pPr algn="just">
                <a:lnSpc>
                  <a:spcPts val="2100"/>
                </a:lnSpc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  <a:p>
              <a:pPr algn="just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nva Sans"/>
                </a:rPr>
                <a:t> Rebalance &gt;&gt;&gt;&gt;&gt; Re allocate</a:t>
              </a: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 lang="en-US" sz="1500" dirty="0">
                <a:solidFill>
                  <a:srgbClr val="FFFFFF"/>
                </a:solidFill>
                <a:latin typeface="Canva San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191677" y="183409"/>
            <a:ext cx="1483263" cy="969826"/>
          </a:xfrm>
          <a:custGeom>
            <a:avLst/>
            <a:gdLst/>
            <a:ahLst/>
            <a:cxnLst/>
            <a:rect l="l" t="t" r="r" b="b"/>
            <a:pathLst>
              <a:path w="1483263" h="969826">
                <a:moveTo>
                  <a:pt x="0" y="0"/>
                </a:moveTo>
                <a:lnTo>
                  <a:pt x="1483263" y="0"/>
                </a:lnTo>
                <a:lnTo>
                  <a:pt x="1483263" y="969825"/>
                </a:lnTo>
                <a:lnTo>
                  <a:pt x="0" y="969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-32657" y="447280"/>
            <a:ext cx="14617958" cy="105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3"/>
              </a:lnSpc>
            </a:pPr>
            <a:r>
              <a:rPr lang="en-US" sz="7375" spc="-73" dirty="0">
                <a:solidFill>
                  <a:srgbClr val="3884FD"/>
                </a:solidFill>
                <a:latin typeface="Nunito Bold"/>
              </a:rPr>
              <a:t>Why Diversify?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B44D72-6875-883D-AABD-7C95402A73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557223"/>
            <a:ext cx="13578615" cy="8729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754648"/>
            <a:ext cx="18288001" cy="8532352"/>
          </a:xfrm>
          <a:custGeom>
            <a:avLst/>
            <a:gdLst/>
            <a:ahLst/>
            <a:cxnLst/>
            <a:rect l="l" t="t" r="r" b="b"/>
            <a:pathLst>
              <a:path w="18573750" h="8532352">
                <a:moveTo>
                  <a:pt x="0" y="0"/>
                </a:moveTo>
                <a:lnTo>
                  <a:pt x="18573750" y="0"/>
                </a:lnTo>
                <a:lnTo>
                  <a:pt x="18573750" y="8532352"/>
                </a:lnTo>
                <a:lnTo>
                  <a:pt x="0" y="8532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51" r="-2251" b="-79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5021" y="308876"/>
            <a:ext cx="14617958" cy="15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62"/>
              </a:lnSpc>
            </a:pPr>
            <a:r>
              <a:rPr lang="en-US" sz="10874" spc="-108">
                <a:solidFill>
                  <a:srgbClr val="3884FD"/>
                </a:solidFill>
                <a:latin typeface="Nunito Bold"/>
              </a:rPr>
              <a:t>Financial Goals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8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98106" y="1939469"/>
            <a:ext cx="9657212" cy="243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60"/>
              </a:lnSpc>
            </a:pPr>
            <a:r>
              <a:rPr lang="en-US" sz="8600" spc="-85">
                <a:solidFill>
                  <a:srgbClr val="FFFFFF"/>
                </a:solidFill>
                <a:latin typeface="Nunito Bold"/>
              </a:rPr>
              <a:t>Most Important Financial Goal?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8635737"/>
            <a:ext cx="16230600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28700" y="3118029"/>
            <a:ext cx="9594174" cy="6140271"/>
          </a:xfrm>
          <a:custGeom>
            <a:avLst/>
            <a:gdLst/>
            <a:ahLst/>
            <a:cxnLst/>
            <a:rect l="l" t="t" r="r" b="b"/>
            <a:pathLst>
              <a:path w="9594174" h="6140271">
                <a:moveTo>
                  <a:pt x="0" y="0"/>
                </a:moveTo>
                <a:lnTo>
                  <a:pt x="9594174" y="0"/>
                </a:lnTo>
                <a:lnTo>
                  <a:pt x="9594174" y="6140271"/>
                </a:lnTo>
                <a:lnTo>
                  <a:pt x="0" y="6140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61828" y="5621315"/>
            <a:ext cx="4461525" cy="4603826"/>
          </a:xfrm>
          <a:custGeom>
            <a:avLst/>
            <a:gdLst/>
            <a:ahLst/>
            <a:cxnLst/>
            <a:rect l="l" t="t" r="r" b="b"/>
            <a:pathLst>
              <a:path w="4461525" h="4603826">
                <a:moveTo>
                  <a:pt x="0" y="0"/>
                </a:moveTo>
                <a:lnTo>
                  <a:pt x="4461526" y="0"/>
                </a:lnTo>
                <a:lnTo>
                  <a:pt x="4461526" y="4603825"/>
                </a:lnTo>
                <a:lnTo>
                  <a:pt x="0" y="46038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941235" y="10287000"/>
            <a:ext cx="8346765" cy="0"/>
          </a:xfrm>
          <a:prstGeom prst="line">
            <a:avLst/>
          </a:prstGeom>
          <a:ln w="19050" cap="rnd">
            <a:solidFill>
              <a:srgbClr val="2437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H="1">
            <a:off x="10741159" y="7793963"/>
            <a:ext cx="5078409" cy="2493037"/>
          </a:xfrm>
          <a:custGeom>
            <a:avLst/>
            <a:gdLst/>
            <a:ahLst/>
            <a:cxnLst/>
            <a:rect l="l" t="t" r="r" b="b"/>
            <a:pathLst>
              <a:path w="5078409" h="2493037">
                <a:moveTo>
                  <a:pt x="5078409" y="0"/>
                </a:moveTo>
                <a:lnTo>
                  <a:pt x="0" y="0"/>
                </a:lnTo>
                <a:lnTo>
                  <a:pt x="0" y="2493037"/>
                </a:lnTo>
                <a:lnTo>
                  <a:pt x="5078409" y="2493037"/>
                </a:lnTo>
                <a:lnTo>
                  <a:pt x="50784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4867" y="4924425"/>
            <a:ext cx="6809200" cy="483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•Traditional Plans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•Endowment Policies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•Post Office Savings Deposit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•PPF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•Debt Mutual Funds</a:t>
            </a:r>
          </a:p>
          <a:p>
            <a:pPr>
              <a:lnSpc>
                <a:spcPts val="5548"/>
              </a:lnSpc>
            </a:pPr>
            <a:r>
              <a:rPr lang="en-US" sz="2706" dirty="0">
                <a:solidFill>
                  <a:srgbClr val="243762"/>
                </a:solidFill>
                <a:latin typeface="Nunito"/>
              </a:rPr>
              <a:t>•Fixed Deposits</a:t>
            </a:r>
          </a:p>
          <a:p>
            <a:pPr>
              <a:lnSpc>
                <a:spcPts val="5548"/>
              </a:lnSpc>
            </a:pPr>
            <a:endParaRPr lang="en-US" sz="2706" dirty="0">
              <a:solidFill>
                <a:srgbClr val="243762"/>
              </a:solidFill>
              <a:latin typeface="Nuni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05656" y="1315720"/>
            <a:ext cx="6453644" cy="488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•Equity Mutual Funds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•Shares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•ULIP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•Real Estate</a:t>
            </a:r>
          </a:p>
          <a:p>
            <a:pPr>
              <a:lnSpc>
                <a:spcPts val="6560"/>
              </a:lnSpc>
            </a:pPr>
            <a:r>
              <a:rPr lang="en-US" sz="3200" dirty="0">
                <a:solidFill>
                  <a:srgbClr val="243762"/>
                </a:solidFill>
                <a:latin typeface="Nunito"/>
              </a:rPr>
              <a:t>•Gold/Silver</a:t>
            </a:r>
          </a:p>
          <a:p>
            <a:pPr>
              <a:lnSpc>
                <a:spcPts val="6560"/>
              </a:lnSpc>
            </a:pPr>
            <a:endParaRPr lang="en-US" sz="3200" dirty="0">
              <a:solidFill>
                <a:srgbClr val="243762"/>
              </a:solidFill>
              <a:latin typeface="Nuni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41159" y="352425"/>
            <a:ext cx="7022113" cy="85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243762"/>
                </a:solidFill>
                <a:latin typeface="Nunito Sans Bold"/>
              </a:rPr>
              <a:t>Market Linked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4867" y="3781425"/>
            <a:ext cx="6453644" cy="85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243762"/>
                </a:solidFill>
                <a:latin typeface="Nunito Sans Bold"/>
              </a:rPr>
              <a:t>Fixed Income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0165" y="104775"/>
            <a:ext cx="12251663" cy="331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01"/>
              </a:lnSpc>
            </a:pPr>
            <a:r>
              <a:rPr lang="en-US" sz="11728" spc="-117" dirty="0">
                <a:solidFill>
                  <a:srgbClr val="3884FD"/>
                </a:solidFill>
                <a:latin typeface="Nunito Bold"/>
              </a:rPr>
              <a:t>Investment Option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438" y="251340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NPS: A great retirement savings option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697634"/>
            <a:ext cx="16230600" cy="1775579"/>
            <a:chOff x="0" y="0"/>
            <a:chExt cx="21640800" cy="2367439"/>
          </a:xfrm>
        </p:grpSpPr>
        <p:sp>
          <p:nvSpPr>
            <p:cNvPr id="4" name="TextBox 4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 dirty="0">
                  <a:solidFill>
                    <a:srgbClr val="3884FD"/>
                  </a:solidFill>
                  <a:latin typeface="Nunito Bold"/>
                </a:rPr>
                <a:t>Regular Pension After Retirement -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6650"/>
              <a:ext cx="21640800" cy="16107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 dirty="0">
                  <a:solidFill>
                    <a:srgbClr val="000000"/>
                  </a:solidFill>
                  <a:latin typeface="Nunito Bold"/>
                </a:rPr>
                <a:t>On maturity, you receive 60% of the corpus as a lump sum payment, and with the remaining 40%, you have to buy annuities.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 dirty="0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473213"/>
            <a:ext cx="16230600" cy="1375529"/>
            <a:chOff x="0" y="0"/>
            <a:chExt cx="21640800" cy="1834039"/>
          </a:xfrm>
        </p:grpSpPr>
        <p:sp>
          <p:nvSpPr>
            <p:cNvPr id="7" name="TextBox 7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Maximum Lock-in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Cannot withdraw till 60.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848742"/>
            <a:ext cx="16230600" cy="1375529"/>
            <a:chOff x="0" y="0"/>
            <a:chExt cx="21640800" cy="183403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Professional Management -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By the PFRDA (Pension Fund Regulatory and Development Authority)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334924"/>
            <a:ext cx="16230600" cy="1375529"/>
            <a:chOff x="0" y="0"/>
            <a:chExt cx="21640800" cy="183403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Choice of Investments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Active and Auto choice.</a:t>
              </a:r>
            </a:p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endParaRPr lang="en-US" sz="2875" spc="-28">
                <a:solidFill>
                  <a:srgbClr val="000000"/>
                </a:solidFill>
                <a:latin typeface="Nunito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7882771"/>
            <a:ext cx="16230600" cy="1375529"/>
            <a:chOff x="0" y="0"/>
            <a:chExt cx="21640800" cy="183403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28575"/>
              <a:ext cx="9742714" cy="689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6"/>
                </a:lnSpc>
              </a:pPr>
              <a:r>
                <a:rPr lang="en-US" sz="3560" spc="-35">
                  <a:solidFill>
                    <a:srgbClr val="3884FD"/>
                  </a:solidFill>
                  <a:latin typeface="Nunito Bold"/>
                </a:rPr>
                <a:t>Additional tax benefit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6650"/>
              <a:ext cx="21640800" cy="1077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62"/>
                </a:lnSpc>
                <a:spcBef>
                  <a:spcPct val="0"/>
                </a:spcBef>
              </a:pPr>
              <a:r>
                <a:rPr lang="en-US" sz="2875" spc="-28">
                  <a:solidFill>
                    <a:srgbClr val="000000"/>
                  </a:solidFill>
                  <a:latin typeface="Nunito Bold"/>
                </a:rPr>
                <a:t>Rs 50,000 in a financial year Section 80CCD (1B) over and above the Rs 1.5 lakh deduction under Section 80C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1771650"/>
            <a:ext cx="17221200" cy="8020050"/>
          </a:xfrm>
          <a:custGeom>
            <a:avLst/>
            <a:gdLst/>
            <a:ahLst/>
            <a:cxnLst/>
            <a:rect l="l" t="t" r="r" b="b"/>
            <a:pathLst>
              <a:path w="18288000" h="8515350">
                <a:moveTo>
                  <a:pt x="0" y="0"/>
                </a:moveTo>
                <a:lnTo>
                  <a:pt x="18288000" y="0"/>
                </a:lnTo>
                <a:lnTo>
                  <a:pt x="18288000" y="8515350"/>
                </a:lnTo>
                <a:lnTo>
                  <a:pt x="0" y="851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5655" y="300718"/>
            <a:ext cx="17536691" cy="111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3"/>
              </a:lnSpc>
            </a:pPr>
            <a:r>
              <a:rPr lang="en-US" sz="7875" spc="-78">
                <a:solidFill>
                  <a:srgbClr val="3884FD"/>
                </a:solidFill>
                <a:latin typeface="Nunito Bold"/>
              </a:rPr>
              <a:t>Different Investment Options for Gold</a:t>
            </a:r>
          </a:p>
        </p:txBody>
      </p:sp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7203" y="1759840"/>
            <a:ext cx="17013594" cy="8343463"/>
          </a:xfrm>
          <a:custGeom>
            <a:avLst/>
            <a:gdLst/>
            <a:ahLst/>
            <a:cxnLst/>
            <a:rect l="l" t="t" r="r" b="b"/>
            <a:pathLst>
              <a:path w="17013594" h="8343463">
                <a:moveTo>
                  <a:pt x="0" y="0"/>
                </a:moveTo>
                <a:lnTo>
                  <a:pt x="17013594" y="0"/>
                </a:lnTo>
                <a:lnTo>
                  <a:pt x="17013594" y="8343464"/>
                </a:lnTo>
                <a:lnTo>
                  <a:pt x="0" y="8343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18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51438" y="557501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 dirty="0">
                <a:solidFill>
                  <a:srgbClr val="3884FD"/>
                </a:solidFill>
                <a:latin typeface="Nunito Bold"/>
              </a:rPr>
              <a:t>Term Plans V/S Traditional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0555" y="1566574"/>
            <a:ext cx="16386891" cy="8720426"/>
          </a:xfrm>
          <a:custGeom>
            <a:avLst/>
            <a:gdLst/>
            <a:ahLst/>
            <a:cxnLst/>
            <a:rect l="l" t="t" r="r" b="b"/>
            <a:pathLst>
              <a:path w="16386891" h="9491960">
                <a:moveTo>
                  <a:pt x="0" y="0"/>
                </a:moveTo>
                <a:lnTo>
                  <a:pt x="16386890" y="0"/>
                </a:lnTo>
                <a:lnTo>
                  <a:pt x="16386890" y="9491960"/>
                </a:lnTo>
                <a:lnTo>
                  <a:pt x="0" y="9491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71" t="-6820" r="-4271" b="-141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1438" y="557501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How should the Risk Planning be done?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4633" y="0"/>
            <a:ext cx="8874667" cy="10082893"/>
          </a:xfrm>
          <a:custGeom>
            <a:avLst/>
            <a:gdLst/>
            <a:ahLst/>
            <a:cxnLst/>
            <a:rect l="l" t="t" r="r" b="b"/>
            <a:pathLst>
              <a:path w="8874667" h="10082893">
                <a:moveTo>
                  <a:pt x="0" y="0"/>
                </a:moveTo>
                <a:lnTo>
                  <a:pt x="8874667" y="0"/>
                </a:lnTo>
                <a:lnTo>
                  <a:pt x="8874667" y="10082893"/>
                </a:lnTo>
                <a:lnTo>
                  <a:pt x="0" y="10082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9" t="-2159" r="-2299" b="-13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0318" y="3129880"/>
            <a:ext cx="6599041" cy="6953013"/>
          </a:xfrm>
          <a:custGeom>
            <a:avLst/>
            <a:gdLst/>
            <a:ahLst/>
            <a:cxnLst/>
            <a:rect l="l" t="t" r="r" b="b"/>
            <a:pathLst>
              <a:path w="6599041" h="6953013">
                <a:moveTo>
                  <a:pt x="0" y="0"/>
                </a:moveTo>
                <a:lnTo>
                  <a:pt x="6599041" y="0"/>
                </a:lnTo>
                <a:lnTo>
                  <a:pt x="6599041" y="6953013"/>
                </a:lnTo>
                <a:lnTo>
                  <a:pt x="0" y="69530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0063" y="557501"/>
            <a:ext cx="9453445" cy="2004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Why Emergency Funds are Important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438" y="449907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 dirty="0">
                <a:solidFill>
                  <a:srgbClr val="3884FD"/>
                </a:solidFill>
                <a:latin typeface="Nunito Bold"/>
              </a:rPr>
              <a:t>Investments Mistakes/Myths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0063" y="2003828"/>
            <a:ext cx="8128972" cy="613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59"/>
              </a:lnSpc>
            </a:pPr>
            <a:r>
              <a:rPr lang="en-US" sz="44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Exp</a:t>
            </a:r>
            <a:r>
              <a:rPr lang="en-US" sz="4000" spc="-47" dirty="0">
                <a:solidFill>
                  <a:srgbClr val="282A29"/>
                </a:solidFill>
                <a:latin typeface="Nunito Bold"/>
              </a:rPr>
              <a:t>ecting Too Much returns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No Investment Goals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Not Diversifying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Focusing on the Short Term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Trading Too Much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Not reviewing &amp; rebalancing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Too many insurance policies</a:t>
            </a:r>
          </a:p>
          <a:p>
            <a:pPr>
              <a:lnSpc>
                <a:spcPts val="5259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Taking no risk or too little risk</a:t>
            </a:r>
          </a:p>
          <a:p>
            <a:pPr>
              <a:lnSpc>
                <a:spcPts val="5259"/>
              </a:lnSpc>
            </a:pPr>
            <a:endParaRPr lang="en-US" sz="4781" spc="-47" dirty="0">
              <a:solidFill>
                <a:srgbClr val="000000"/>
              </a:solidFill>
              <a:latin typeface="Nunit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35203" y="2003828"/>
            <a:ext cx="8701359" cy="749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4"/>
              </a:lnSpc>
            </a:pPr>
            <a:r>
              <a:rPr lang="en-US" sz="4794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Investing Is Complicated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Savings Will Secure Your Future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My Provident Fund Will Take Care of Post-Retirement Life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You Must Know How To Time The Market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Buy More Funds To Diversify And Protect the Downside</a:t>
            </a:r>
          </a:p>
          <a:p>
            <a:pPr>
              <a:lnSpc>
                <a:spcPts val="5274"/>
              </a:lnSpc>
            </a:pPr>
            <a:r>
              <a:rPr lang="en-US" sz="4000" spc="-47" dirty="0">
                <a:solidFill>
                  <a:srgbClr val="3884FD"/>
                </a:solidFill>
                <a:latin typeface="Nunito Bold"/>
              </a:rPr>
              <a:t>•</a:t>
            </a:r>
            <a:r>
              <a:rPr lang="en-US" sz="4000" spc="-47" dirty="0">
                <a:solidFill>
                  <a:srgbClr val="000000"/>
                </a:solidFill>
                <a:latin typeface="Nunito Bold"/>
              </a:rPr>
              <a:t>Buying Life Insurance is an Investment</a:t>
            </a:r>
          </a:p>
          <a:p>
            <a:pPr>
              <a:lnSpc>
                <a:spcPts val="5274"/>
              </a:lnSpc>
            </a:pPr>
            <a:endParaRPr lang="en-US" sz="4794" spc="-47" dirty="0">
              <a:solidFill>
                <a:srgbClr val="000000"/>
              </a:solidFill>
              <a:latin typeface="Nunito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727" y="1566574"/>
            <a:ext cx="17388545" cy="8676346"/>
          </a:xfrm>
          <a:custGeom>
            <a:avLst/>
            <a:gdLst/>
            <a:ahLst/>
            <a:cxnLst/>
            <a:rect l="l" t="t" r="r" b="b"/>
            <a:pathLst>
              <a:path w="17388545" h="8676346">
                <a:moveTo>
                  <a:pt x="0" y="0"/>
                </a:moveTo>
                <a:lnTo>
                  <a:pt x="17388546" y="0"/>
                </a:lnTo>
                <a:lnTo>
                  <a:pt x="17388546" y="8676346"/>
                </a:lnTo>
                <a:lnTo>
                  <a:pt x="0" y="8676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1438" y="332983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Write down the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6315" y="1458981"/>
            <a:ext cx="17055369" cy="8828019"/>
          </a:xfrm>
          <a:custGeom>
            <a:avLst/>
            <a:gdLst/>
            <a:ahLst/>
            <a:cxnLst/>
            <a:rect l="l" t="t" r="r" b="b"/>
            <a:pathLst>
              <a:path w="17055369" h="8828019">
                <a:moveTo>
                  <a:pt x="0" y="0"/>
                </a:moveTo>
                <a:lnTo>
                  <a:pt x="17055370" y="0"/>
                </a:lnTo>
                <a:lnTo>
                  <a:pt x="17055370" y="8828019"/>
                </a:lnTo>
                <a:lnTo>
                  <a:pt x="0" y="8828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1438" y="449907"/>
            <a:ext cx="17985124" cy="100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2"/>
              </a:lnSpc>
            </a:pPr>
            <a:r>
              <a:rPr lang="en-US" sz="7093" spc="-70">
                <a:solidFill>
                  <a:srgbClr val="3884FD"/>
                </a:solidFill>
                <a:latin typeface="Nunito Bold"/>
              </a:rPr>
              <a:t>Write down the plan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0633" y="7419561"/>
            <a:ext cx="6097367" cy="2867439"/>
            <a:chOff x="0" y="0"/>
            <a:chExt cx="8129823" cy="3823253"/>
          </a:xfrm>
        </p:grpSpPr>
        <p:sp>
          <p:nvSpPr>
            <p:cNvPr id="3" name="Freeform 3"/>
            <p:cNvSpPr/>
            <p:nvPr/>
          </p:nvSpPr>
          <p:spPr>
            <a:xfrm>
              <a:off x="395576" y="0"/>
              <a:ext cx="3705079" cy="3823253"/>
            </a:xfrm>
            <a:custGeom>
              <a:avLst/>
              <a:gdLst/>
              <a:ahLst/>
              <a:cxnLst/>
              <a:rect l="l" t="t" r="r" b="b"/>
              <a:pathLst>
                <a:path w="3705079" h="3823253">
                  <a:moveTo>
                    <a:pt x="0" y="0"/>
                  </a:moveTo>
                  <a:lnTo>
                    <a:pt x="3705079" y="0"/>
                  </a:lnTo>
                  <a:lnTo>
                    <a:pt x="3705079" y="3823253"/>
                  </a:lnTo>
                  <a:lnTo>
                    <a:pt x="0" y="3823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083151" y="1055006"/>
              <a:ext cx="3722581" cy="2768247"/>
            </a:xfrm>
            <a:custGeom>
              <a:avLst/>
              <a:gdLst/>
              <a:ahLst/>
              <a:cxnLst/>
              <a:rect l="l" t="t" r="r" b="b"/>
              <a:pathLst>
                <a:path w="3722581" h="2768247">
                  <a:moveTo>
                    <a:pt x="0" y="0"/>
                  </a:moveTo>
                  <a:lnTo>
                    <a:pt x="3722581" y="0"/>
                  </a:lnTo>
                  <a:lnTo>
                    <a:pt x="3722581" y="2768247"/>
                  </a:lnTo>
                  <a:lnTo>
                    <a:pt x="0" y="2768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AutoShape 5"/>
            <p:cNvSpPr/>
            <p:nvPr/>
          </p:nvSpPr>
          <p:spPr>
            <a:xfrm>
              <a:off x="0" y="3797744"/>
              <a:ext cx="8129823" cy="0"/>
            </a:xfrm>
            <a:prstGeom prst="line">
              <a:avLst/>
            </a:prstGeom>
            <a:ln w="20407" cap="rnd">
              <a:solidFill>
                <a:srgbClr val="243762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Freeform 6"/>
          <p:cNvSpPr/>
          <p:nvPr/>
        </p:nvSpPr>
        <p:spPr>
          <a:xfrm>
            <a:off x="1819980" y="1649526"/>
            <a:ext cx="15137901" cy="6987948"/>
          </a:xfrm>
          <a:custGeom>
            <a:avLst/>
            <a:gdLst/>
            <a:ahLst/>
            <a:cxnLst/>
            <a:rect l="l" t="t" r="r" b="b"/>
            <a:pathLst>
              <a:path w="15137901" h="6987948">
                <a:moveTo>
                  <a:pt x="0" y="0"/>
                </a:moveTo>
                <a:lnTo>
                  <a:pt x="15137901" y="0"/>
                </a:lnTo>
                <a:lnTo>
                  <a:pt x="15137901" y="6987948"/>
                </a:lnTo>
                <a:lnTo>
                  <a:pt x="0" y="6987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11935" y="8637474"/>
            <a:ext cx="1791772" cy="1171543"/>
          </a:xfrm>
          <a:custGeom>
            <a:avLst/>
            <a:gdLst/>
            <a:ahLst/>
            <a:cxnLst/>
            <a:rect l="l" t="t" r="r" b="b"/>
            <a:pathLst>
              <a:path w="1791772" h="1171543">
                <a:moveTo>
                  <a:pt x="0" y="0"/>
                </a:moveTo>
                <a:lnTo>
                  <a:pt x="1791772" y="0"/>
                </a:lnTo>
                <a:lnTo>
                  <a:pt x="1791772" y="1171543"/>
                </a:lnTo>
                <a:lnTo>
                  <a:pt x="0" y="1171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9524" y="244711"/>
            <a:ext cx="17428951" cy="239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349"/>
              </a:lnSpc>
            </a:pPr>
            <a:r>
              <a:rPr lang="en-US" sz="8499" spc="-84">
                <a:solidFill>
                  <a:srgbClr val="3884FD"/>
                </a:solidFill>
                <a:latin typeface="Nunito Bold"/>
              </a:rPr>
              <a:t>Rs. 98779 Crore lying unclaimed in India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7397" y="1713419"/>
            <a:ext cx="13993207" cy="8573581"/>
          </a:xfrm>
          <a:custGeom>
            <a:avLst/>
            <a:gdLst/>
            <a:ahLst/>
            <a:cxnLst/>
            <a:rect l="l" t="t" r="r" b="b"/>
            <a:pathLst>
              <a:path w="13993207" h="8573581">
                <a:moveTo>
                  <a:pt x="0" y="0"/>
                </a:moveTo>
                <a:lnTo>
                  <a:pt x="13993206" y="0"/>
                </a:lnTo>
                <a:lnTo>
                  <a:pt x="13993206" y="8573581"/>
                </a:lnTo>
                <a:lnTo>
                  <a:pt x="0" y="8573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62" r="-398" b="-6367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22C94A-400A-11BE-0771-E05D858A0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95301"/>
            <a:ext cx="17145000" cy="1447799"/>
          </a:xfrm>
        </p:spPr>
        <p:txBody>
          <a:bodyPr>
            <a:noAutofit/>
          </a:bodyPr>
          <a:lstStyle/>
          <a:p>
            <a:r>
              <a:rPr lang="en-IN" sz="7200" b="1" dirty="0">
                <a:solidFill>
                  <a:schemeClr val="accent5">
                    <a:lumMod val="75000"/>
                  </a:schemeClr>
                </a:solidFill>
                <a:latin typeface="Nunito" pitchFamily="2" charset="0"/>
              </a:rPr>
              <a:t>THANK YOU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B53F3F9-513C-0696-FE9E-E3A621A52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171700"/>
            <a:ext cx="15544800" cy="2743200"/>
          </a:xfrm>
        </p:spPr>
        <p:txBody>
          <a:bodyPr>
            <a:normAutofit/>
          </a:bodyPr>
          <a:lstStyle/>
          <a:p>
            <a:r>
              <a:rPr lang="en-IN" sz="4000" u="sng" dirty="0">
                <a:latin typeface="Nunito" pitchFamily="2" charset="0"/>
              </a:rPr>
              <a:t>Contact us</a:t>
            </a:r>
            <a:r>
              <a:rPr lang="en-IN" sz="4000" dirty="0">
                <a:latin typeface="Nunito" pitchFamily="2" charset="0"/>
              </a:rPr>
              <a:t>:-</a:t>
            </a:r>
          </a:p>
          <a:p>
            <a:r>
              <a:rPr lang="en-IN" sz="4000" dirty="0">
                <a:latin typeface="Nunito" pitchFamily="2" charset="0"/>
              </a:rPr>
              <a:t> Contact No:- +919769432143</a:t>
            </a:r>
          </a:p>
          <a:p>
            <a:r>
              <a:rPr lang="en-IN" sz="4000" dirty="0">
                <a:latin typeface="Nunito" pitchFamily="2" charset="0"/>
              </a:rPr>
              <a:t>Mail id:- connect@ArthaInvest.in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89B61-0FCF-D0EE-2438-77A55FB6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4900"/>
            <a:ext cx="18288000" cy="5355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682</Words>
  <Application>Microsoft Office PowerPoint</Application>
  <PresentationFormat>Custom</PresentationFormat>
  <Paragraphs>111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Nunito Sans Bold</vt:lpstr>
      <vt:lpstr>Canva Sans Bold</vt:lpstr>
      <vt:lpstr>Nunito</vt:lpstr>
      <vt:lpstr>Canva Sans</vt:lpstr>
      <vt:lpstr>Calibri</vt:lpstr>
      <vt:lpstr>Arial</vt:lpstr>
      <vt:lpstr>Nunito Bold</vt:lpstr>
      <vt:lpstr>Office Theme</vt:lpstr>
      <vt:lpstr>PowerPoint Presentation</vt:lpstr>
      <vt:lpstr>PowerPoint Presentation</vt:lpstr>
      <vt:lpstr> Some of the questions that will be answered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Cista</dc:title>
  <dc:creator>Nimita Arora</dc:creator>
  <cp:lastModifiedBy>Nimita Arora</cp:lastModifiedBy>
  <cp:revision>3</cp:revision>
  <dcterms:created xsi:type="dcterms:W3CDTF">2006-08-16T00:00:00Z</dcterms:created>
  <dcterms:modified xsi:type="dcterms:W3CDTF">2024-06-05T07:34:00Z</dcterms:modified>
  <dc:identifier>DAF-JR-sswM</dc:identifier>
</cp:coreProperties>
</file>