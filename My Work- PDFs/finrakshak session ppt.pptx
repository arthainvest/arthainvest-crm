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5" r:id="rId2"/>
    <p:sldId id="256" r:id="rId3"/>
    <p:sldId id="257" r:id="rId4"/>
    <p:sldId id="258" r:id="rId5"/>
    <p:sldId id="265" r:id="rId6"/>
    <p:sldId id="271" r:id="rId7"/>
    <p:sldId id="264" r:id="rId8"/>
    <p:sldId id="262" r:id="rId9"/>
    <p:sldId id="263" r:id="rId10"/>
    <p:sldId id="267" r:id="rId11"/>
    <p:sldId id="270" r:id="rId12"/>
    <p:sldId id="272" r:id="rId13"/>
    <p:sldId id="260" r:id="rId14"/>
    <p:sldId id="269" r:id="rId15"/>
    <p:sldId id="273" r:id="rId16"/>
    <p:sldId id="266" r:id="rId17"/>
    <p:sldId id="278" r:id="rId18"/>
    <p:sldId id="261" r:id="rId19"/>
    <p:sldId id="268" r:id="rId20"/>
    <p:sldId id="274" r:id="rId21"/>
    <p:sldId id="276" r:id="rId22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4284"/>
    <a:srgbClr val="0C0C0C"/>
    <a:srgbClr val="31CEE7"/>
    <a:srgbClr val="D9B1CA"/>
    <a:srgbClr val="C382AB"/>
    <a:srgbClr val="CCECFF"/>
    <a:srgbClr val="3BC3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291" autoAdjust="0"/>
  </p:normalViewPr>
  <p:slideViewPr>
    <p:cSldViewPr snapToGrid="0">
      <p:cViewPr varScale="1">
        <p:scale>
          <a:sx n="63" d="100"/>
          <a:sy n="63" d="100"/>
        </p:scale>
        <p:origin x="7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Invested Amount</c:v>
                </c:pt>
              </c:strCache>
            </c:strRef>
          </c:tx>
          <c:spPr>
            <a:solidFill>
              <a:srgbClr val="3BC3D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Jai</c:v>
                </c:pt>
                <c:pt idx="1">
                  <c:v>Veeru</c:v>
                </c:pt>
              </c:strCache>
            </c:strRef>
          </c:cat>
          <c:val>
            <c:numRef>
              <c:f>Sheet1!$B$2:$B$3</c:f>
              <c:numCache>
                <c:formatCode>"₹"\ #,##0</c:formatCode>
                <c:ptCount val="2"/>
                <c:pt idx="0">
                  <c:v>3000000</c:v>
                </c:pt>
                <c:pt idx="1">
                  <c:v>7500000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4E-4FDF-83D1-879FC0CEE3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 @ 65 years of age</c:v>
                </c:pt>
              </c:strCache>
            </c:strRef>
          </c:tx>
          <c:spPr>
            <a:solidFill>
              <a:srgbClr val="C382A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Jai</c:v>
                </c:pt>
                <c:pt idx="1">
                  <c:v>Veeru</c:v>
                </c:pt>
              </c:strCache>
            </c:strRef>
          </c:cat>
          <c:val>
            <c:numRef>
              <c:f>Sheet1!$C$2:$C$3</c:f>
              <c:numCache>
                <c:formatCode>"₹"\ #,##0</c:formatCode>
                <c:ptCount val="2"/>
                <c:pt idx="0">
                  <c:v>97766813</c:v>
                </c:pt>
                <c:pt idx="1">
                  <c:v>46971166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4E-4FDF-83D1-879FC0CEE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45279864"/>
        <c:axId val="245280256"/>
      </c:barChart>
      <c:catAx>
        <c:axId val="245279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5280256"/>
        <c:crosses val="autoZero"/>
        <c:auto val="1"/>
        <c:lblAlgn val="ctr"/>
        <c:lblOffset val="100"/>
        <c:noMultiLvlLbl val="0"/>
      </c:catAx>
      <c:valAx>
        <c:axId val="245280256"/>
        <c:scaling>
          <c:orientation val="minMax"/>
        </c:scaling>
        <c:delete val="1"/>
        <c:axPos val="l"/>
        <c:numFmt formatCode="&quot;₹&quot;\ #,##0" sourceLinked="1"/>
        <c:majorTickMark val="none"/>
        <c:minorTickMark val="none"/>
        <c:tickLblPos val="nextTo"/>
        <c:crossAx val="245279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Corpus Accumulated</c:v>
                </c:pt>
              </c:strCache>
            </c:strRef>
          </c:tx>
          <c:spPr>
            <a:gradFill>
              <a:gsLst>
                <a:gs pos="0">
                  <a:srgbClr val="AD4284"/>
                </a:gs>
                <a:gs pos="50000">
                  <a:srgbClr val="C382AB"/>
                </a:gs>
                <a:gs pos="100000">
                  <a:srgbClr val="D9B1CA"/>
                </a:gs>
              </a:gsLst>
              <a:lin ang="0" scaled="1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Lumpsum just before 31st March</c:v>
                </c:pt>
                <c:pt idx="1">
                  <c:v>₹ 12,500 before 5th of every month</c:v>
                </c:pt>
              </c:strCache>
            </c:strRef>
          </c:cat>
          <c:val>
            <c:numRef>
              <c:f>Sheet1!$C$2:$C$3</c:f>
              <c:numCache>
                <c:formatCode>"₹"\ #,##0</c:formatCode>
                <c:ptCount val="2"/>
                <c:pt idx="0">
                  <c:v>16992481.670000002</c:v>
                </c:pt>
                <c:pt idx="1">
                  <c:v>18753689.73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69-42C6-A1BF-060A7AF2BF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89"/>
        <c:overlap val="-27"/>
        <c:axId val="245281040"/>
        <c:axId val="393469800"/>
      </c:barChart>
      <c:catAx>
        <c:axId val="245281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3469800"/>
        <c:crossesAt val="0"/>
        <c:auto val="1"/>
        <c:lblAlgn val="ctr"/>
        <c:lblOffset val="100"/>
        <c:noMultiLvlLbl val="0"/>
      </c:catAx>
      <c:valAx>
        <c:axId val="393469800"/>
        <c:scaling>
          <c:orientation val="minMax"/>
        </c:scaling>
        <c:delete val="1"/>
        <c:axPos val="l"/>
        <c:numFmt formatCode="&quot;₹&quot;\ #,##0" sourceLinked="1"/>
        <c:majorTickMark val="none"/>
        <c:minorTickMark val="none"/>
        <c:tickLblPos val="nextTo"/>
        <c:crossAx val="245281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87A9B9-9FB3-4027-8849-280815B3A0DD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CFF0F68F-A3C5-43A7-9131-C909C60CD76A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rgbClr val="CCECFF"/>
            </a:gs>
          </a:gsLst>
          <a:lin ang="0" scaled="1"/>
          <a:tileRect/>
        </a:gradFill>
      </dgm:spPr>
      <dgm:t>
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<a:prstTxWarp prst="textNoShape">
            <a:avLst/>
          </a:prstTxWarp>
        </a:bodyPr>
        <a:lstStyle/>
        <a:p>
          <a:pPr marL="0" algn="ctr" defTabSz="914400" rtl="0" eaLnBrk="1" latinLnBrk="0" hangingPunct="1"/>
          <a:r>
            <a:rPr lang="en-IN" sz="3200" b="1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ASSET ALLOCATION</a:t>
          </a:r>
        </a:p>
      </dgm:t>
    </dgm:pt>
    <dgm:pt modelId="{E1E44050-E80A-4D09-B2D3-CC243AC658C9}" type="parTrans" cxnId="{2768BEDC-BE1F-4705-A69E-2CEBB69A1CFE}">
      <dgm:prSet/>
      <dgm:spPr/>
      <dgm:t>
        <a:bodyPr/>
        <a:lstStyle/>
        <a:p>
          <a:endParaRPr lang="en-IN" sz="3200"/>
        </a:p>
      </dgm:t>
    </dgm:pt>
    <dgm:pt modelId="{2AEB91D8-CE44-40DA-A352-C49895913A3C}" type="sibTrans" cxnId="{2768BEDC-BE1F-4705-A69E-2CEBB69A1CFE}">
      <dgm:prSet/>
      <dgm:spPr/>
      <dgm:t>
        <a:bodyPr/>
        <a:lstStyle/>
        <a:p>
          <a:endParaRPr lang="en-IN" sz="3200"/>
        </a:p>
      </dgm:t>
    </dgm:pt>
    <dgm:pt modelId="{6933D306-083F-4895-B4DB-6C2F5C9ED0C6}">
      <dgm:prSet phldrT="[Text]" custT="1"/>
      <dgm:spPr/>
      <dgm:t>
        <a:bodyPr/>
        <a:lstStyle/>
        <a:p>
          <a:r>
            <a:rPr lang="en-IN" sz="3200" dirty="0"/>
            <a:t>FINANCIAL GOALS</a:t>
          </a:r>
        </a:p>
      </dgm:t>
    </dgm:pt>
    <dgm:pt modelId="{E527AE3B-911F-4E8F-A7A3-D69CD88D8246}" type="parTrans" cxnId="{5A8DD197-3EBC-4B2C-AE9F-B370CFEF8176}">
      <dgm:prSet custT="1"/>
      <dgm:spPr/>
      <dgm:t>
        <a:bodyPr/>
        <a:lstStyle/>
        <a:p>
          <a:endParaRPr lang="en-IN" sz="3200"/>
        </a:p>
      </dgm:t>
    </dgm:pt>
    <dgm:pt modelId="{C4BB25AA-7C58-4A78-8BCA-FCC2BF3750AC}" type="sibTrans" cxnId="{5A8DD197-3EBC-4B2C-AE9F-B370CFEF8176}">
      <dgm:prSet/>
      <dgm:spPr/>
      <dgm:t>
        <a:bodyPr/>
        <a:lstStyle/>
        <a:p>
          <a:endParaRPr lang="en-IN" sz="3200"/>
        </a:p>
      </dgm:t>
    </dgm:pt>
    <dgm:pt modelId="{B20BF7AF-F948-49FA-A7F6-885F75FB0664}">
      <dgm:prSet phldrT="[Text]" custT="1"/>
      <dgm:spPr/>
      <dgm:t>
        <a:bodyPr/>
        <a:lstStyle/>
        <a:p>
          <a:r>
            <a:rPr lang="en-IN" sz="3200" dirty="0"/>
            <a:t>DURATION</a:t>
          </a:r>
        </a:p>
      </dgm:t>
    </dgm:pt>
    <dgm:pt modelId="{29058B86-EA53-4239-9610-87AF13ED5E30}" type="parTrans" cxnId="{23C74751-FA92-47D4-96E4-0A602174345F}">
      <dgm:prSet custT="1"/>
      <dgm:spPr/>
      <dgm:t>
        <a:bodyPr/>
        <a:lstStyle/>
        <a:p>
          <a:endParaRPr lang="en-IN" sz="3200"/>
        </a:p>
      </dgm:t>
    </dgm:pt>
    <dgm:pt modelId="{E00231CE-3810-4B71-91CC-D5496CECF2D3}" type="sibTrans" cxnId="{23C74751-FA92-47D4-96E4-0A602174345F}">
      <dgm:prSet/>
      <dgm:spPr/>
      <dgm:t>
        <a:bodyPr/>
        <a:lstStyle/>
        <a:p>
          <a:endParaRPr lang="en-IN" sz="3200"/>
        </a:p>
      </dgm:t>
    </dgm:pt>
    <dgm:pt modelId="{7FBFE20C-1DD5-4E8C-8397-CE64F4612758}">
      <dgm:prSet phldrT="[Text]" custT="1"/>
      <dgm:spPr/>
      <dgm:t>
        <a:bodyPr/>
        <a:lstStyle/>
        <a:p>
          <a:r>
            <a:rPr lang="en-IN" sz="3200" dirty="0"/>
            <a:t>RISK APPETITE</a:t>
          </a:r>
        </a:p>
      </dgm:t>
    </dgm:pt>
    <dgm:pt modelId="{7657B46B-31F2-49C5-8ADE-4A2095062B90}" type="parTrans" cxnId="{C5692865-9724-49B7-B8A1-66061C807863}">
      <dgm:prSet custT="1"/>
      <dgm:spPr/>
      <dgm:t>
        <a:bodyPr/>
        <a:lstStyle/>
        <a:p>
          <a:endParaRPr lang="en-IN" sz="3200"/>
        </a:p>
      </dgm:t>
    </dgm:pt>
    <dgm:pt modelId="{C50DD168-0360-42EC-B2BA-0C0D587CE63E}" type="sibTrans" cxnId="{C5692865-9724-49B7-B8A1-66061C807863}">
      <dgm:prSet/>
      <dgm:spPr/>
      <dgm:t>
        <a:bodyPr/>
        <a:lstStyle/>
        <a:p>
          <a:endParaRPr lang="en-IN" sz="3200"/>
        </a:p>
      </dgm:t>
    </dgm:pt>
    <dgm:pt modelId="{FD13CA2C-F340-42CF-99FB-E334D66D6CAB}" type="pres">
      <dgm:prSet presAssocID="{2C87A9B9-9FB3-4027-8849-280815B3A0D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5C565BE-3CA2-4BEA-B015-557FE0E6C663}" type="pres">
      <dgm:prSet presAssocID="{CFF0F68F-A3C5-43A7-9131-C909C60CD76A}" presName="root1" presStyleCnt="0"/>
      <dgm:spPr/>
    </dgm:pt>
    <dgm:pt modelId="{A10AA47D-AC31-44DC-934C-BEFC6BE2A49C}" type="pres">
      <dgm:prSet presAssocID="{CFF0F68F-A3C5-43A7-9131-C909C60CD76A}" presName="LevelOneTextNode" presStyleLbl="node0" presStyleIdx="0" presStyleCnt="1">
        <dgm:presLayoutVars>
          <dgm:chPref val="3"/>
        </dgm:presLayoutVars>
      </dgm:prSet>
      <dgm:spPr>
        <a:xfrm>
          <a:off x="1406232" y="1593949"/>
          <a:ext cx="2768203" cy="1384101"/>
        </a:xfrm>
        <a:prstGeom prst="roundRect">
          <a:avLst>
            <a:gd name="adj" fmla="val 10000"/>
          </a:avLst>
        </a:prstGeom>
      </dgm:spPr>
    </dgm:pt>
    <dgm:pt modelId="{7DF2327E-B3AE-44F0-90A3-37AD5E794F1E}" type="pres">
      <dgm:prSet presAssocID="{CFF0F68F-A3C5-43A7-9131-C909C60CD76A}" presName="level2hierChild" presStyleCnt="0"/>
      <dgm:spPr/>
    </dgm:pt>
    <dgm:pt modelId="{71F98CF3-03AD-4829-8E8B-FE6B371CCE03}" type="pres">
      <dgm:prSet presAssocID="{E527AE3B-911F-4E8F-A7A3-D69CD88D8246}" presName="conn2-1" presStyleLbl="parChTrans1D2" presStyleIdx="0" presStyleCnt="3"/>
      <dgm:spPr/>
    </dgm:pt>
    <dgm:pt modelId="{1ABD0BD2-A521-463A-B146-4D8BF6457A46}" type="pres">
      <dgm:prSet presAssocID="{E527AE3B-911F-4E8F-A7A3-D69CD88D8246}" presName="connTx" presStyleLbl="parChTrans1D2" presStyleIdx="0" presStyleCnt="3"/>
      <dgm:spPr/>
    </dgm:pt>
    <dgm:pt modelId="{87637A04-027E-4953-A167-7C49B959EC78}" type="pres">
      <dgm:prSet presAssocID="{6933D306-083F-4895-B4DB-6C2F5C9ED0C6}" presName="root2" presStyleCnt="0"/>
      <dgm:spPr/>
    </dgm:pt>
    <dgm:pt modelId="{B216A21D-465F-42CB-A7D3-FCF5240E8660}" type="pres">
      <dgm:prSet presAssocID="{6933D306-083F-4895-B4DB-6C2F5C9ED0C6}" presName="LevelTwoTextNode" presStyleLbl="node2" presStyleIdx="0" presStyleCnt="3" custScaleX="152536">
        <dgm:presLayoutVars>
          <dgm:chPref val="3"/>
        </dgm:presLayoutVars>
      </dgm:prSet>
      <dgm:spPr/>
    </dgm:pt>
    <dgm:pt modelId="{DBCDF910-27EB-4894-97CD-DB81B05E0B4A}" type="pres">
      <dgm:prSet presAssocID="{6933D306-083F-4895-B4DB-6C2F5C9ED0C6}" presName="level3hierChild" presStyleCnt="0"/>
      <dgm:spPr/>
    </dgm:pt>
    <dgm:pt modelId="{E7A28016-3F5D-419B-AAE7-E9A6565784E2}" type="pres">
      <dgm:prSet presAssocID="{29058B86-EA53-4239-9610-87AF13ED5E30}" presName="conn2-1" presStyleLbl="parChTrans1D2" presStyleIdx="1" presStyleCnt="3"/>
      <dgm:spPr/>
    </dgm:pt>
    <dgm:pt modelId="{78DAC5B3-6A19-47CF-A605-827B4E47FB02}" type="pres">
      <dgm:prSet presAssocID="{29058B86-EA53-4239-9610-87AF13ED5E30}" presName="connTx" presStyleLbl="parChTrans1D2" presStyleIdx="1" presStyleCnt="3"/>
      <dgm:spPr/>
    </dgm:pt>
    <dgm:pt modelId="{8F7BB4E7-D4B1-4B1A-9A4B-8FD9B070B4BC}" type="pres">
      <dgm:prSet presAssocID="{B20BF7AF-F948-49FA-A7F6-885F75FB0664}" presName="root2" presStyleCnt="0"/>
      <dgm:spPr/>
    </dgm:pt>
    <dgm:pt modelId="{ABABCEF2-F7CC-46E9-A557-4B42086CA1AC}" type="pres">
      <dgm:prSet presAssocID="{B20BF7AF-F948-49FA-A7F6-885F75FB0664}" presName="LevelTwoTextNode" presStyleLbl="node2" presStyleIdx="1" presStyleCnt="3" custScaleX="152020">
        <dgm:presLayoutVars>
          <dgm:chPref val="3"/>
        </dgm:presLayoutVars>
      </dgm:prSet>
      <dgm:spPr/>
    </dgm:pt>
    <dgm:pt modelId="{F3D34F4B-A69B-43A6-A0EE-C87355D29569}" type="pres">
      <dgm:prSet presAssocID="{B20BF7AF-F948-49FA-A7F6-885F75FB0664}" presName="level3hierChild" presStyleCnt="0"/>
      <dgm:spPr/>
    </dgm:pt>
    <dgm:pt modelId="{42D38855-44CB-48DB-AC2D-5EEDD37DCEF2}" type="pres">
      <dgm:prSet presAssocID="{7657B46B-31F2-49C5-8ADE-4A2095062B90}" presName="conn2-1" presStyleLbl="parChTrans1D2" presStyleIdx="2" presStyleCnt="3"/>
      <dgm:spPr/>
    </dgm:pt>
    <dgm:pt modelId="{662A1F8F-408A-4F2B-A465-2412DE1784A7}" type="pres">
      <dgm:prSet presAssocID="{7657B46B-31F2-49C5-8ADE-4A2095062B90}" presName="connTx" presStyleLbl="parChTrans1D2" presStyleIdx="2" presStyleCnt="3"/>
      <dgm:spPr/>
    </dgm:pt>
    <dgm:pt modelId="{19844FB2-555A-4232-A9CB-85CC872F6297}" type="pres">
      <dgm:prSet presAssocID="{7FBFE20C-1DD5-4E8C-8397-CE64F4612758}" presName="root2" presStyleCnt="0"/>
      <dgm:spPr/>
    </dgm:pt>
    <dgm:pt modelId="{DA2E8FCE-62E6-4F6B-87F8-66DAD584365D}" type="pres">
      <dgm:prSet presAssocID="{7FBFE20C-1DD5-4E8C-8397-CE64F4612758}" presName="LevelTwoTextNode" presStyleLbl="node2" presStyleIdx="2" presStyleCnt="3" custScaleX="151019">
        <dgm:presLayoutVars>
          <dgm:chPref val="3"/>
        </dgm:presLayoutVars>
      </dgm:prSet>
      <dgm:spPr/>
    </dgm:pt>
    <dgm:pt modelId="{2B7BE201-06AD-469B-BD64-5B640A277EC8}" type="pres">
      <dgm:prSet presAssocID="{7FBFE20C-1DD5-4E8C-8397-CE64F4612758}" presName="level3hierChild" presStyleCnt="0"/>
      <dgm:spPr/>
    </dgm:pt>
  </dgm:ptLst>
  <dgm:cxnLst>
    <dgm:cxn modelId="{745BF926-F07F-43C3-949D-AD73ACAE6927}" type="presOf" srcId="{E527AE3B-911F-4E8F-A7A3-D69CD88D8246}" destId="{71F98CF3-03AD-4829-8E8B-FE6B371CCE03}" srcOrd="0" destOrd="0" presId="urn:microsoft.com/office/officeart/2005/8/layout/hierarchy2"/>
    <dgm:cxn modelId="{41AA5A39-E2B7-4DB7-9D5A-28CD3AB99597}" type="presOf" srcId="{6933D306-083F-4895-B4DB-6C2F5C9ED0C6}" destId="{B216A21D-465F-42CB-A7D3-FCF5240E8660}" srcOrd="0" destOrd="0" presId="urn:microsoft.com/office/officeart/2005/8/layout/hierarchy2"/>
    <dgm:cxn modelId="{C5692865-9724-49B7-B8A1-66061C807863}" srcId="{CFF0F68F-A3C5-43A7-9131-C909C60CD76A}" destId="{7FBFE20C-1DD5-4E8C-8397-CE64F4612758}" srcOrd="2" destOrd="0" parTransId="{7657B46B-31F2-49C5-8ADE-4A2095062B90}" sibTransId="{C50DD168-0360-42EC-B2BA-0C0D587CE63E}"/>
    <dgm:cxn modelId="{3455F067-FC8F-4BDC-A9CA-75CEE6EB8765}" type="presOf" srcId="{B20BF7AF-F948-49FA-A7F6-885F75FB0664}" destId="{ABABCEF2-F7CC-46E9-A557-4B42086CA1AC}" srcOrd="0" destOrd="0" presId="urn:microsoft.com/office/officeart/2005/8/layout/hierarchy2"/>
    <dgm:cxn modelId="{42E2E84B-3DFB-42AD-9A91-88BBA15E20F4}" type="presOf" srcId="{7FBFE20C-1DD5-4E8C-8397-CE64F4612758}" destId="{DA2E8FCE-62E6-4F6B-87F8-66DAD584365D}" srcOrd="0" destOrd="0" presId="urn:microsoft.com/office/officeart/2005/8/layout/hierarchy2"/>
    <dgm:cxn modelId="{23C74751-FA92-47D4-96E4-0A602174345F}" srcId="{CFF0F68F-A3C5-43A7-9131-C909C60CD76A}" destId="{B20BF7AF-F948-49FA-A7F6-885F75FB0664}" srcOrd="1" destOrd="0" parTransId="{29058B86-EA53-4239-9610-87AF13ED5E30}" sibTransId="{E00231CE-3810-4B71-91CC-D5496CECF2D3}"/>
    <dgm:cxn modelId="{42F6597A-CD9B-4F01-BD92-D6DA2BD37786}" type="presOf" srcId="{7657B46B-31F2-49C5-8ADE-4A2095062B90}" destId="{662A1F8F-408A-4F2B-A465-2412DE1784A7}" srcOrd="1" destOrd="0" presId="urn:microsoft.com/office/officeart/2005/8/layout/hierarchy2"/>
    <dgm:cxn modelId="{9C26428A-4822-4647-ABBE-3006F6DE70D7}" type="presOf" srcId="{29058B86-EA53-4239-9610-87AF13ED5E30}" destId="{78DAC5B3-6A19-47CF-A605-827B4E47FB02}" srcOrd="1" destOrd="0" presId="urn:microsoft.com/office/officeart/2005/8/layout/hierarchy2"/>
    <dgm:cxn modelId="{5A8DD197-3EBC-4B2C-AE9F-B370CFEF8176}" srcId="{CFF0F68F-A3C5-43A7-9131-C909C60CD76A}" destId="{6933D306-083F-4895-B4DB-6C2F5C9ED0C6}" srcOrd="0" destOrd="0" parTransId="{E527AE3B-911F-4E8F-A7A3-D69CD88D8246}" sibTransId="{C4BB25AA-7C58-4A78-8BCA-FCC2BF3750AC}"/>
    <dgm:cxn modelId="{541B2C99-A679-4E11-BC13-E0DC75AEF4BB}" type="presOf" srcId="{29058B86-EA53-4239-9610-87AF13ED5E30}" destId="{E7A28016-3F5D-419B-AAE7-E9A6565784E2}" srcOrd="0" destOrd="0" presId="urn:microsoft.com/office/officeart/2005/8/layout/hierarchy2"/>
    <dgm:cxn modelId="{BC96D8AA-22CE-4D0E-AAAD-99CECBDCE176}" type="presOf" srcId="{7657B46B-31F2-49C5-8ADE-4A2095062B90}" destId="{42D38855-44CB-48DB-AC2D-5EEDD37DCEF2}" srcOrd="0" destOrd="0" presId="urn:microsoft.com/office/officeart/2005/8/layout/hierarchy2"/>
    <dgm:cxn modelId="{050D16BC-2966-4F53-B654-22B405C0CFD9}" type="presOf" srcId="{2C87A9B9-9FB3-4027-8849-280815B3A0DD}" destId="{FD13CA2C-F340-42CF-99FB-E334D66D6CAB}" srcOrd="0" destOrd="0" presId="urn:microsoft.com/office/officeart/2005/8/layout/hierarchy2"/>
    <dgm:cxn modelId="{2768BEDC-BE1F-4705-A69E-2CEBB69A1CFE}" srcId="{2C87A9B9-9FB3-4027-8849-280815B3A0DD}" destId="{CFF0F68F-A3C5-43A7-9131-C909C60CD76A}" srcOrd="0" destOrd="0" parTransId="{E1E44050-E80A-4D09-B2D3-CC243AC658C9}" sibTransId="{2AEB91D8-CE44-40DA-A352-C49895913A3C}"/>
    <dgm:cxn modelId="{3E262DE1-009F-4F48-A9A3-F79B9E15733E}" type="presOf" srcId="{CFF0F68F-A3C5-43A7-9131-C909C60CD76A}" destId="{A10AA47D-AC31-44DC-934C-BEFC6BE2A49C}" srcOrd="0" destOrd="0" presId="urn:microsoft.com/office/officeart/2005/8/layout/hierarchy2"/>
    <dgm:cxn modelId="{EBCC0EE9-DCE5-4F76-A7E5-EA10534C5AE7}" type="presOf" srcId="{E527AE3B-911F-4E8F-A7A3-D69CD88D8246}" destId="{1ABD0BD2-A521-463A-B146-4D8BF6457A46}" srcOrd="1" destOrd="0" presId="urn:microsoft.com/office/officeart/2005/8/layout/hierarchy2"/>
    <dgm:cxn modelId="{BA546BF0-4BA6-4622-8174-3CFC38BAC7C7}" type="presParOf" srcId="{FD13CA2C-F340-42CF-99FB-E334D66D6CAB}" destId="{D5C565BE-3CA2-4BEA-B015-557FE0E6C663}" srcOrd="0" destOrd="0" presId="urn:microsoft.com/office/officeart/2005/8/layout/hierarchy2"/>
    <dgm:cxn modelId="{4A661EAA-3D92-40D4-ABEF-B12EF780953A}" type="presParOf" srcId="{D5C565BE-3CA2-4BEA-B015-557FE0E6C663}" destId="{A10AA47D-AC31-44DC-934C-BEFC6BE2A49C}" srcOrd="0" destOrd="0" presId="urn:microsoft.com/office/officeart/2005/8/layout/hierarchy2"/>
    <dgm:cxn modelId="{B3F02E73-B287-4689-B689-BDB271663891}" type="presParOf" srcId="{D5C565BE-3CA2-4BEA-B015-557FE0E6C663}" destId="{7DF2327E-B3AE-44F0-90A3-37AD5E794F1E}" srcOrd="1" destOrd="0" presId="urn:microsoft.com/office/officeart/2005/8/layout/hierarchy2"/>
    <dgm:cxn modelId="{485B3482-A3A4-4D7C-B32A-A20F08B97F6F}" type="presParOf" srcId="{7DF2327E-B3AE-44F0-90A3-37AD5E794F1E}" destId="{71F98CF3-03AD-4829-8E8B-FE6B371CCE03}" srcOrd="0" destOrd="0" presId="urn:microsoft.com/office/officeart/2005/8/layout/hierarchy2"/>
    <dgm:cxn modelId="{4FE04F58-4E64-461D-8CBC-4A1A1AC93500}" type="presParOf" srcId="{71F98CF3-03AD-4829-8E8B-FE6B371CCE03}" destId="{1ABD0BD2-A521-463A-B146-4D8BF6457A46}" srcOrd="0" destOrd="0" presId="urn:microsoft.com/office/officeart/2005/8/layout/hierarchy2"/>
    <dgm:cxn modelId="{453D66AA-2561-4971-99B3-783EC930E7B5}" type="presParOf" srcId="{7DF2327E-B3AE-44F0-90A3-37AD5E794F1E}" destId="{87637A04-027E-4953-A167-7C49B959EC78}" srcOrd="1" destOrd="0" presId="urn:microsoft.com/office/officeart/2005/8/layout/hierarchy2"/>
    <dgm:cxn modelId="{03495895-F8FA-48CD-96E9-94E7A6839A09}" type="presParOf" srcId="{87637A04-027E-4953-A167-7C49B959EC78}" destId="{B216A21D-465F-42CB-A7D3-FCF5240E8660}" srcOrd="0" destOrd="0" presId="urn:microsoft.com/office/officeart/2005/8/layout/hierarchy2"/>
    <dgm:cxn modelId="{4B975D5E-2915-4F37-9E97-D6422D8654D6}" type="presParOf" srcId="{87637A04-027E-4953-A167-7C49B959EC78}" destId="{DBCDF910-27EB-4894-97CD-DB81B05E0B4A}" srcOrd="1" destOrd="0" presId="urn:microsoft.com/office/officeart/2005/8/layout/hierarchy2"/>
    <dgm:cxn modelId="{3A498711-3CC0-4B32-A301-6EAB81263636}" type="presParOf" srcId="{7DF2327E-B3AE-44F0-90A3-37AD5E794F1E}" destId="{E7A28016-3F5D-419B-AAE7-E9A6565784E2}" srcOrd="2" destOrd="0" presId="urn:microsoft.com/office/officeart/2005/8/layout/hierarchy2"/>
    <dgm:cxn modelId="{2271ABF0-83C2-4205-A683-D672E3CE2A6F}" type="presParOf" srcId="{E7A28016-3F5D-419B-AAE7-E9A6565784E2}" destId="{78DAC5B3-6A19-47CF-A605-827B4E47FB02}" srcOrd="0" destOrd="0" presId="urn:microsoft.com/office/officeart/2005/8/layout/hierarchy2"/>
    <dgm:cxn modelId="{A3B99DE1-A101-4647-98B1-FECF117ABBEB}" type="presParOf" srcId="{7DF2327E-B3AE-44F0-90A3-37AD5E794F1E}" destId="{8F7BB4E7-D4B1-4B1A-9A4B-8FD9B070B4BC}" srcOrd="3" destOrd="0" presId="urn:microsoft.com/office/officeart/2005/8/layout/hierarchy2"/>
    <dgm:cxn modelId="{CB033DDF-1D66-414A-9047-438A7AD27619}" type="presParOf" srcId="{8F7BB4E7-D4B1-4B1A-9A4B-8FD9B070B4BC}" destId="{ABABCEF2-F7CC-46E9-A557-4B42086CA1AC}" srcOrd="0" destOrd="0" presId="urn:microsoft.com/office/officeart/2005/8/layout/hierarchy2"/>
    <dgm:cxn modelId="{6EE74560-B6EA-4BF0-A4AB-3DBB645C330E}" type="presParOf" srcId="{8F7BB4E7-D4B1-4B1A-9A4B-8FD9B070B4BC}" destId="{F3D34F4B-A69B-43A6-A0EE-C87355D29569}" srcOrd="1" destOrd="0" presId="urn:microsoft.com/office/officeart/2005/8/layout/hierarchy2"/>
    <dgm:cxn modelId="{E0B6328C-0ED5-4F07-B018-EEA7750526C0}" type="presParOf" srcId="{7DF2327E-B3AE-44F0-90A3-37AD5E794F1E}" destId="{42D38855-44CB-48DB-AC2D-5EEDD37DCEF2}" srcOrd="4" destOrd="0" presId="urn:microsoft.com/office/officeart/2005/8/layout/hierarchy2"/>
    <dgm:cxn modelId="{261F70C7-067C-493D-8D62-E02ACEAF8647}" type="presParOf" srcId="{42D38855-44CB-48DB-AC2D-5EEDD37DCEF2}" destId="{662A1F8F-408A-4F2B-A465-2412DE1784A7}" srcOrd="0" destOrd="0" presId="urn:microsoft.com/office/officeart/2005/8/layout/hierarchy2"/>
    <dgm:cxn modelId="{DBDE14F2-0FC7-44DF-BAC5-3F0414E44DE7}" type="presParOf" srcId="{7DF2327E-B3AE-44F0-90A3-37AD5E794F1E}" destId="{19844FB2-555A-4232-A9CB-85CC872F6297}" srcOrd="5" destOrd="0" presId="urn:microsoft.com/office/officeart/2005/8/layout/hierarchy2"/>
    <dgm:cxn modelId="{E641BB26-1A45-4318-9D02-72E4E08746AF}" type="presParOf" srcId="{19844FB2-555A-4232-A9CB-85CC872F6297}" destId="{DA2E8FCE-62E6-4F6B-87F8-66DAD584365D}" srcOrd="0" destOrd="0" presId="urn:microsoft.com/office/officeart/2005/8/layout/hierarchy2"/>
    <dgm:cxn modelId="{E244A50E-AD06-4AD6-A1FB-4B7B3FE41349}" type="presParOf" srcId="{19844FB2-555A-4232-A9CB-85CC872F6297}" destId="{2B7BE201-06AD-469B-BD64-5B640A277EC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AA47D-AC31-44DC-934C-BEFC6BE2A49C}">
      <dsp:nvSpPr>
        <dsp:cNvPr id="0" name=""/>
        <dsp:cNvSpPr/>
      </dsp:nvSpPr>
      <dsp:spPr>
        <a:xfrm>
          <a:off x="1406232" y="1593949"/>
          <a:ext cx="2768203" cy="1384101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rgbClr val="CCECFF"/>
            </a:gs>
          </a:gsLst>
          <a:lin ang="0" scaled="1"/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rot="0" spcFirstLastPara="0" vertOverflow="overflow" horzOverflow="overflow" vert="horz" wrap="square" lIns="91440" tIns="45720" rIns="91440" bIns="45720" numCol="1" spcCol="1270" rtlCol="0" fromWordArt="0" anchor="ctr" anchorCtr="0" forceAA="0" compatLnSpc="1">
          <a:prstTxWarp prst="textNoShape">
            <a:avLst/>
          </a:prstTxWarp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ASSET ALLOCATION</a:t>
          </a:r>
        </a:p>
      </dsp:txBody>
      <dsp:txXfrm>
        <a:off x="1446771" y="1634488"/>
        <a:ext cx="2687125" cy="1303023"/>
      </dsp:txXfrm>
    </dsp:sp>
    <dsp:sp modelId="{71F98CF3-03AD-4829-8E8B-FE6B371CCE03}">
      <dsp:nvSpPr>
        <dsp:cNvPr id="0" name=""/>
        <dsp:cNvSpPr/>
      </dsp:nvSpPr>
      <dsp:spPr>
        <a:xfrm rot="18289469">
          <a:off x="3758587" y="1462895"/>
          <a:ext cx="1938977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938977" y="2724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200" kern="1200"/>
        </a:p>
      </dsp:txBody>
      <dsp:txXfrm>
        <a:off x="4679601" y="1441667"/>
        <a:ext cx="96948" cy="96948"/>
      </dsp:txXfrm>
    </dsp:sp>
    <dsp:sp modelId="{B216A21D-465F-42CB-A7D3-FCF5240E8660}">
      <dsp:nvSpPr>
        <dsp:cNvPr id="0" name=""/>
        <dsp:cNvSpPr/>
      </dsp:nvSpPr>
      <dsp:spPr>
        <a:xfrm>
          <a:off x="5281716" y="2232"/>
          <a:ext cx="4222506" cy="13841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FINANCIAL GOALS</a:t>
          </a:r>
        </a:p>
      </dsp:txBody>
      <dsp:txXfrm>
        <a:off x="5322255" y="42771"/>
        <a:ext cx="4141428" cy="1303023"/>
      </dsp:txXfrm>
    </dsp:sp>
    <dsp:sp modelId="{E7A28016-3F5D-419B-AAE7-E9A6565784E2}">
      <dsp:nvSpPr>
        <dsp:cNvPr id="0" name=""/>
        <dsp:cNvSpPr/>
      </dsp:nvSpPr>
      <dsp:spPr>
        <a:xfrm>
          <a:off x="4174435" y="2258753"/>
          <a:ext cx="110728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107281" y="2724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200" kern="1200"/>
        </a:p>
      </dsp:txBody>
      <dsp:txXfrm>
        <a:off x="4700393" y="2258317"/>
        <a:ext cx="55364" cy="55364"/>
      </dsp:txXfrm>
    </dsp:sp>
    <dsp:sp modelId="{ABABCEF2-F7CC-46E9-A557-4B42086CA1AC}">
      <dsp:nvSpPr>
        <dsp:cNvPr id="0" name=""/>
        <dsp:cNvSpPr/>
      </dsp:nvSpPr>
      <dsp:spPr>
        <a:xfrm>
          <a:off x="5281716" y="1593949"/>
          <a:ext cx="4208222" cy="13841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DURATION</a:t>
          </a:r>
        </a:p>
      </dsp:txBody>
      <dsp:txXfrm>
        <a:off x="5322255" y="1634488"/>
        <a:ext cx="4127144" cy="1303023"/>
      </dsp:txXfrm>
    </dsp:sp>
    <dsp:sp modelId="{42D38855-44CB-48DB-AC2D-5EEDD37DCEF2}">
      <dsp:nvSpPr>
        <dsp:cNvPr id="0" name=""/>
        <dsp:cNvSpPr/>
      </dsp:nvSpPr>
      <dsp:spPr>
        <a:xfrm rot="3310531">
          <a:off x="3758587" y="3054612"/>
          <a:ext cx="1938977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938977" y="2724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200" kern="1200"/>
        </a:p>
      </dsp:txBody>
      <dsp:txXfrm>
        <a:off x="4679601" y="3033383"/>
        <a:ext cx="96948" cy="96948"/>
      </dsp:txXfrm>
    </dsp:sp>
    <dsp:sp modelId="{DA2E8FCE-62E6-4F6B-87F8-66DAD584365D}">
      <dsp:nvSpPr>
        <dsp:cNvPr id="0" name=""/>
        <dsp:cNvSpPr/>
      </dsp:nvSpPr>
      <dsp:spPr>
        <a:xfrm>
          <a:off x="5281716" y="3185666"/>
          <a:ext cx="4180512" cy="13841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RISK APPETITE</a:t>
          </a:r>
        </a:p>
      </dsp:txBody>
      <dsp:txXfrm>
        <a:off x="5322255" y="3226205"/>
        <a:ext cx="4099434" cy="13030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1975E-99F5-4FC3-B0BC-2783A89EE915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D927F-1820-4908-83A4-E70743819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89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D4F7-967F-45B5-BEA7-F1BF482D9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EDBC9-58F3-4C28-B584-02BC00882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0454E-A7E7-42AB-9011-B0EE872D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A95B6-5738-41E8-9954-CF841CB0FD2B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37764-127B-4C7C-8F5E-FCBD9770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1FF72-1DD3-4545-8295-09347DBE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582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1047-9038-437C-83E2-D0D6CC83AB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307" y="40011"/>
            <a:ext cx="9053382" cy="736928"/>
          </a:xfrm>
        </p:spPr>
        <p:txBody>
          <a:bodyPr/>
          <a:lstStyle>
            <a:lvl1pPr>
              <a:defRPr>
                <a:solidFill>
                  <a:srgbClr val="AD428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07FC4-C7F9-4E4D-A3E7-59C2F87D2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9970"/>
            <a:ext cx="12191999" cy="52489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7C5E8-D50C-4AE5-9E6A-47E0D603CB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307" y="6506478"/>
            <a:ext cx="3322093" cy="365125"/>
          </a:xfrm>
        </p:spPr>
        <p:txBody>
          <a:bodyPr/>
          <a:lstStyle/>
          <a:p>
            <a:fld id="{B8083FEF-07E8-4820-958D-3E71E172BB64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E2BDF-A26D-410B-BB29-38039C1A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0647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D3925-FF7C-4553-98E0-6E0EB890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6478"/>
            <a:ext cx="3276600" cy="365125"/>
          </a:xfrm>
        </p:spPr>
        <p:txBody>
          <a:bodyPr/>
          <a:lstStyle/>
          <a:p>
            <a:fld id="{98F249C4-1215-479D-986C-E1C7F2305F59}" type="slidenum">
              <a:rPr lang="en-IN" smtClean="0"/>
              <a:t>‹#›</a:t>
            </a:fld>
            <a:endParaRPr lang="en-IN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AC16AFB-FBC3-4D54-8CFD-CA26FD8B9B3E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889336013"/>
              </p:ext>
            </p:extLst>
          </p:nvPr>
        </p:nvGraphicFramePr>
        <p:xfrm>
          <a:off x="9312690" y="-1251516"/>
          <a:ext cx="3709372" cy="1890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4342093" imgH="2212753" progId="CorelDraw.Graphic.20">
                  <p:embed/>
                </p:oleObj>
              </mc:Choice>
              <mc:Fallback>
                <p:oleObj name="CorelDRAW" r:id="rId2" imgW="4342093" imgH="2212753" progId="CorelDraw.Graphic.20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A58BD7F0-A124-4943-AF21-73B8A546DE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12690" y="-1251516"/>
                        <a:ext cx="3709372" cy="1890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F86DEA-EE40-43EB-8305-524780BE5EB1}"/>
              </a:ext>
            </a:extLst>
          </p:cNvPr>
          <p:cNvCxnSpPr/>
          <p:nvPr userDrawn="1"/>
        </p:nvCxnSpPr>
        <p:spPr>
          <a:xfrm>
            <a:off x="0" y="873454"/>
            <a:ext cx="12191999" cy="0"/>
          </a:xfrm>
          <a:prstGeom prst="line">
            <a:avLst/>
          </a:prstGeom>
          <a:ln>
            <a:solidFill>
              <a:srgbClr val="31CEE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185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E69E3-2AC4-4023-BAC9-B60B8B302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EE52F-6B31-4350-84B5-4B2431517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50915-FAC8-48C0-BC38-55ED6B1A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5E39-B0F0-4D1C-890A-AC18EC54EE23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1FC2A-F3C4-45B6-84F2-610B6ED0B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2C477-57C3-4474-AB8D-44BB98AE7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‹#›</a:t>
            </a:fld>
            <a:endParaRPr lang="en-IN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2E711DE-FB8E-4CE8-AB85-00A61D3163E3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080179395"/>
              </p:ext>
            </p:extLst>
          </p:nvPr>
        </p:nvGraphicFramePr>
        <p:xfrm>
          <a:off x="9312690" y="-1251516"/>
          <a:ext cx="3709372" cy="1890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4342093" imgH="2212753" progId="CorelDraw.Graphic.20">
                  <p:embed/>
                </p:oleObj>
              </mc:Choice>
              <mc:Fallback>
                <p:oleObj name="CorelDRAW" r:id="rId2" imgW="4342093" imgH="2212753" progId="CorelDraw.Graphic.2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AC16AFB-FBC3-4D54-8CFD-CA26FD8B9B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312690" y="-1251516"/>
                        <a:ext cx="3709372" cy="1890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1736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F9CB-1785-40C7-BFDC-FA2DF0591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59D81-5EED-43B5-A3AE-DE04465F4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369D9-6B16-4DD4-9065-C2733FD4E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22222-EC63-4AA4-BF73-E463079F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FE536-54AF-4A3B-AF58-A2A2EE36F0C4}" type="datetime1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77DE8-C9C0-4C1F-A1A1-C2BE7187A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16EC8-926D-4DC5-B3EA-77DE1CF0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12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4130-A4A2-4507-B107-C9DDFF891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EC4A3-4E82-4EEC-86B9-BCA377A85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3D05-11D6-4DCC-88DA-DCD954658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7DE02D-4A1D-4401-A6AF-0C46E9887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B11F9-D8F9-4934-A05E-F204E24C3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05E79-9D70-4DC0-B3B6-B02110506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71165-C7E9-4F70-9891-BCDBD1405C63}" type="datetime1">
              <a:rPr lang="en-IN" smtClean="0"/>
              <a:t>09-09-2024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198F3F-B145-4204-B5AF-15B64969C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3F59BB-28E7-4F13-B850-3766F035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37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CA699-1075-4BA4-AEF9-DE158ACB1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DF7B6-C3A4-4042-A3AD-7080A26B9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FD661-49B5-4E2D-9115-BF98C150F47B}" type="datetime1">
              <a:rPr lang="en-IN" smtClean="0"/>
              <a:t>09-09-2024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5E3A7F-07DE-43B5-9BA8-8A66A555A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82066-47C5-40A8-9D93-ADD580AF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89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C3ABC-A668-44D0-8631-BBE91679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8144-687F-40F5-923B-7A438EDC9618}" type="datetime1">
              <a:rPr lang="en-IN" smtClean="0"/>
              <a:t>09-09-2024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FFB554-2E95-4387-BFCC-14E4E4903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23B2E-ED57-46DA-993B-DB7B4FBB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64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079B-52C0-4C1C-9DD4-EFE6AD655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5700A-6F0F-4C79-A868-8E55EEC2E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A4553A-AF31-4E5D-A935-6B3596D6E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D404A-ADFB-40CB-98FC-1EE2A8E62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BFC5B-1126-43EE-A095-493CE128D2A6}" type="datetime1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E74C2-FEDE-4553-BE2C-91340EF7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366A4-CC66-46C3-A0A2-B399E76C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814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3FA9B-3F3A-4DC6-AF15-E928E970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45D3C-1C75-4E50-A9B3-CDDDAE1F0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79D68-04AE-4C91-8D51-54ED29812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14052-08A6-4172-A26B-82CB8FFC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9343-B371-41A6-B511-4E5F2A4B150F}" type="datetime1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5D105-B1E0-497D-A66D-881F47EC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FB263-EDA2-417B-B6B4-BB459C673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01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46DE-89AA-4B3F-B7BA-2F3FD9E6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2BBA4-7A65-4D9F-B07E-93E3CC585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37641-48AA-48E2-953E-51AEC09A2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C9F5-B814-4364-80D5-6A1AB4635B4F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1CB32-C2EF-450B-B43E-73A236D5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03E25-5793-4E34-A38F-68B38905D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71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ADBF15-9583-4BE4-B72E-356CA274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9855F-B1BD-4806-8298-1CA1CF5B1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75717-262F-4F5E-8348-6FA149B3D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A1A-ACC6-4A5D-A7F6-10E19A7D16CC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B513E-1D96-4153-8E93-21837DF98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409B6-67E1-42B2-A4CF-D8D8E698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7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2981C7-F99C-44C6-9377-335FF115B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FB11D-AEF4-4B09-8A1C-18E03C75F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66D10-8334-4429-AE1B-8E69BA6A6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5F6EA-881C-47E2-9F10-A2FA3B20BCE9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338A9-A6B9-4CB3-A26D-F72EA7F01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Your Financial Companion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FC494-444D-4FDA-B8F2-BBCBB2B24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249C4-1215-479D-986C-E1C7F2305F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887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CC3D45-9EEC-494C-BD56-4D972488D2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AD4284"/>
                </a:solidFill>
              </a:rPr>
              <a:t>FINANCIAL PLANNING</a:t>
            </a:r>
            <a:br>
              <a:rPr lang="en-IN" dirty="0">
                <a:solidFill>
                  <a:srgbClr val="AD4284"/>
                </a:solidFill>
              </a:rPr>
            </a:br>
            <a:r>
              <a:rPr lang="en-IN" dirty="0">
                <a:solidFill>
                  <a:srgbClr val="AD4284"/>
                </a:solidFill>
              </a:rPr>
              <a:t>for DOCTORS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EBBBBB-F84D-46C4-948D-1B97DFEC0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6627"/>
            <a:ext cx="9144000" cy="1655762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- Krishna </a:t>
            </a:r>
            <a:r>
              <a:rPr lang="en-IN" sz="2800" dirty="0" err="1">
                <a:solidFill>
                  <a:schemeClr val="tx1"/>
                </a:solidFill>
              </a:rPr>
              <a:t>Mohta</a:t>
            </a:r>
            <a:r>
              <a:rPr lang="en-IN" sz="2800" dirty="0">
                <a:solidFill>
                  <a:schemeClr val="tx1"/>
                </a:solidFill>
              </a:rPr>
              <a:t> &amp; Rupali Singhania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24B1C-B7BA-430B-839B-43038C4BC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3FEF-07E8-4820-958D-3E71E172BB64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C1C64-3E4A-4AF8-B36B-31719294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50248-ECD3-4C73-B3CD-287283EE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1</a:t>
            </a:fld>
            <a:endParaRPr lang="en-IN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5154DAC-F717-42D9-B969-1C4D984D2E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422027"/>
              </p:ext>
            </p:extLst>
          </p:nvPr>
        </p:nvGraphicFramePr>
        <p:xfrm>
          <a:off x="4901228" y="2881313"/>
          <a:ext cx="3709372" cy="1890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4342093" imgH="2212753" progId="CorelDraw.Graphic.20">
                  <p:embed/>
                </p:oleObj>
              </mc:Choice>
              <mc:Fallback>
                <p:oleObj name="CorelDRAW" r:id="rId2" imgW="4342093" imgH="2212753" progId="CorelDraw.Graphic.2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AC16AFB-FBC3-4D54-8CFD-CA26FD8B9B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01228" y="2881313"/>
                        <a:ext cx="3709372" cy="1890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7471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89142-0104-4203-B2C7-420DF5CAA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Rules of Investments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CD3AA-5065-4F44-A82C-2D74600B8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9263" indent="-352425">
              <a:buFont typeface="Wingdings" panose="05000000000000000000" pitchFamily="2" charset="2"/>
              <a:buChar char="§"/>
            </a:pPr>
            <a:r>
              <a:rPr lang="en-IN" dirty="0"/>
              <a:t>Return of Capital</a:t>
            </a:r>
          </a:p>
          <a:p>
            <a:pPr marL="449263" indent="-352425">
              <a:buFont typeface="Wingdings" panose="05000000000000000000" pitchFamily="2" charset="2"/>
              <a:buChar char="§"/>
            </a:pPr>
            <a:r>
              <a:rPr lang="en-IN" dirty="0"/>
              <a:t>Liquidity</a:t>
            </a:r>
          </a:p>
          <a:p>
            <a:pPr marL="449263" indent="-352425">
              <a:buFont typeface="Wingdings" panose="05000000000000000000" pitchFamily="2" charset="2"/>
              <a:buChar char="§"/>
            </a:pPr>
            <a:r>
              <a:rPr lang="en-IN" dirty="0"/>
              <a:t>Return on Capital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353F5-397B-4EE8-984B-5D8A5EF9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6060E-8D7B-43C4-B9A6-6333854D9C50}" type="datetime1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C3CD4-2FEC-462C-9B32-6D5715CE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AB8CB-AFB4-4F5E-9EA5-D35EC213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01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E18425-0B07-479A-87BE-0CC3EBBC116B}"/>
              </a:ext>
            </a:extLst>
          </p:cNvPr>
          <p:cNvSpPr/>
          <p:nvPr/>
        </p:nvSpPr>
        <p:spPr>
          <a:xfrm>
            <a:off x="1665584" y="2629327"/>
            <a:ext cx="2670888" cy="2903255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Fixed Deposits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LIC Traditional Plans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Endowment/Money Back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Post Office Savings Deposit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D14155-3582-4E50-8E28-D0729626E60D}"/>
              </a:ext>
            </a:extLst>
          </p:cNvPr>
          <p:cNvSpPr/>
          <p:nvPr/>
        </p:nvSpPr>
        <p:spPr>
          <a:xfrm>
            <a:off x="5300945" y="2629327"/>
            <a:ext cx="2004165" cy="2903255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PPF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Debt Mutual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Gold/Silver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C0E60-1B67-41A0-A578-ECE5450ECBA2}"/>
              </a:ext>
            </a:extLst>
          </p:cNvPr>
          <p:cNvSpPr/>
          <p:nvPr/>
        </p:nvSpPr>
        <p:spPr>
          <a:xfrm>
            <a:off x="8269583" y="2629327"/>
            <a:ext cx="2004165" cy="2903255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Equity Mutual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Shares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ULIP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Real Estate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D4D351-21FA-4ED2-9718-55FFE60BEC25}"/>
              </a:ext>
            </a:extLst>
          </p:cNvPr>
          <p:cNvSpPr/>
          <p:nvPr/>
        </p:nvSpPr>
        <p:spPr>
          <a:xfrm>
            <a:off x="1483099" y="2087460"/>
            <a:ext cx="2978063" cy="54186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CCECFF"/>
              </a:gs>
            </a:gsLst>
            <a:lin ang="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WEALTH DESTROYERS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BD0009-BEF2-4BE4-8E6B-6BA1401669F1}"/>
              </a:ext>
            </a:extLst>
          </p:cNvPr>
          <p:cNvSpPr/>
          <p:nvPr/>
        </p:nvSpPr>
        <p:spPr>
          <a:xfrm>
            <a:off x="8128664" y="2087460"/>
            <a:ext cx="2286000" cy="54186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CCECFF"/>
              </a:gs>
            </a:gsLst>
            <a:lin ang="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WEALTH CREATORS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723492-6474-4D2A-A584-2B1C9C9472F3}"/>
              </a:ext>
            </a:extLst>
          </p:cNvPr>
          <p:cNvSpPr/>
          <p:nvPr/>
        </p:nvSpPr>
        <p:spPr>
          <a:xfrm>
            <a:off x="5151913" y="2087460"/>
            <a:ext cx="2286000" cy="54186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CCECFF"/>
              </a:gs>
            </a:gsLst>
            <a:lin ang="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WEALTH PRESERVERS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F3581439-9A56-4E16-97F8-992A114D9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rgbClr val="AD4284"/>
                </a:solidFill>
              </a:rPr>
              <a:t>INVESTMENT OPTIONS</a:t>
            </a:r>
            <a:endParaRPr lang="en-IN" dirty="0">
              <a:solidFill>
                <a:srgbClr val="AD4284"/>
              </a:solidFill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B993838-BE7E-4B3E-84B5-C3AE9C7F8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2F87C-13BB-405D-9CCC-597F0CAC3E0A}" type="datetime1">
              <a:rPr lang="en-IN" smtClean="0"/>
              <a:t>09-09-2024</a:t>
            </a:fld>
            <a:endParaRPr lang="en-IN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568DC99B-4AEB-49C8-856A-71770AEB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D1929DF-E382-4962-9FA5-513B9CFA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94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0234-B238-4298-9A78-6338AEA8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AD4284"/>
                </a:solidFill>
              </a:rPr>
              <a:t>INVESTMENT PROCESS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C27F4F-381F-4AE0-B427-0FE6E6A2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5782-E598-471D-BF38-DBC6832F5390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0FE3F-AFCB-484C-AB7C-67981E3CE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24FD6E1-2E79-439F-8FE0-95147DC438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9111074"/>
              </p:ext>
            </p:extLst>
          </p:nvPr>
        </p:nvGraphicFramePr>
        <p:xfrm>
          <a:off x="443345" y="1551709"/>
          <a:ext cx="10910455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34213B-CD61-48CC-B780-EF0DE1EF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874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B0D3-5CA9-4430-A175-2BE282A27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FINANCIAL GOALS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D70320-A6A1-4524-A5DD-C1351F5A14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3299872"/>
              </p:ext>
            </p:extLst>
          </p:nvPr>
        </p:nvGraphicFramePr>
        <p:xfrm>
          <a:off x="259306" y="1214991"/>
          <a:ext cx="11627894" cy="20815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875965">
                  <a:extLst>
                    <a:ext uri="{9D8B030D-6E8A-4147-A177-3AD203B41FA5}">
                      <a16:colId xmlns:a16="http://schemas.microsoft.com/office/drawing/2014/main" val="1444789675"/>
                    </a:ext>
                  </a:extLst>
                </a:gridCol>
                <a:gridCol w="2937693">
                  <a:extLst>
                    <a:ext uri="{9D8B030D-6E8A-4147-A177-3AD203B41FA5}">
                      <a16:colId xmlns:a16="http://schemas.microsoft.com/office/drawing/2014/main" val="4110017788"/>
                    </a:ext>
                  </a:extLst>
                </a:gridCol>
                <a:gridCol w="4814236">
                  <a:extLst>
                    <a:ext uri="{9D8B030D-6E8A-4147-A177-3AD203B41FA5}">
                      <a16:colId xmlns:a16="http://schemas.microsoft.com/office/drawing/2014/main" val="1711640860"/>
                    </a:ext>
                  </a:extLst>
                </a:gridCol>
              </a:tblGrid>
              <a:tr h="5203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Term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marL="96570" marR="965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marL="96570" marR="965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Investment Products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marL="96570" marR="96570" anchor="ctr"/>
                </a:tc>
                <a:extLst>
                  <a:ext uri="{0D108BD9-81ED-4DB2-BD59-A6C34878D82A}">
                    <a16:rowId xmlns:a16="http://schemas.microsoft.com/office/drawing/2014/main" val="1117295957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Short Term Goals</a:t>
                      </a:r>
                    </a:p>
                  </a:txBody>
                  <a:tcPr marL="96570" marR="96570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 4 years</a:t>
                      </a:r>
                    </a:p>
                  </a:txBody>
                  <a:tcPr marL="96570" marR="96570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Debt mutual funds, Fixed Deposits</a:t>
                      </a:r>
                    </a:p>
                  </a:txBody>
                  <a:tcPr marL="96570" marR="96570"/>
                </a:tc>
                <a:extLst>
                  <a:ext uri="{0D108BD9-81ED-4DB2-BD59-A6C34878D82A}">
                    <a16:rowId xmlns:a16="http://schemas.microsoft.com/office/drawing/2014/main" val="3418193108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Medium Term Goals</a:t>
                      </a:r>
                    </a:p>
                  </a:txBody>
                  <a:tcPr marL="96570" marR="96570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 to 7 years</a:t>
                      </a:r>
                    </a:p>
                  </a:txBody>
                  <a:tcPr marL="96570" marR="96570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Balanced Funds, Asset allocation funds</a:t>
                      </a:r>
                    </a:p>
                  </a:txBody>
                  <a:tcPr marL="96570" marR="96570"/>
                </a:tc>
                <a:extLst>
                  <a:ext uri="{0D108BD9-81ED-4DB2-BD59-A6C34878D82A}">
                    <a16:rowId xmlns:a16="http://schemas.microsoft.com/office/drawing/2014/main" val="2764879649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Long Term Goals</a:t>
                      </a:r>
                    </a:p>
                  </a:txBody>
                  <a:tcPr marL="96570" marR="96570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&gt; 7 years</a:t>
                      </a:r>
                    </a:p>
                  </a:txBody>
                  <a:tcPr marL="96570" marR="96570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Equity mutual funds, Shares, Real Estate, </a:t>
                      </a:r>
                    </a:p>
                  </a:txBody>
                  <a:tcPr marL="96570" marR="96570"/>
                </a:tc>
                <a:extLst>
                  <a:ext uri="{0D108BD9-81ED-4DB2-BD59-A6C34878D82A}">
                    <a16:rowId xmlns:a16="http://schemas.microsoft.com/office/drawing/2014/main" val="112715890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F0A5F-A850-4434-8C39-CDA0AD82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B9332-6DBB-45D8-8CAC-2E02A6427600}" type="datetime1">
              <a:rPr lang="en-IN" smtClean="0"/>
              <a:t>09-09-2024</a:t>
            </a:fld>
            <a:endParaRPr lang="en-IN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BD9446D-2883-4182-8E08-A76730E64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5CD04-8E4B-46BF-B170-6173819C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5</a:t>
            </a:fld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91E560-87B1-44C7-8B03-9E00BF5F4A50}"/>
              </a:ext>
            </a:extLst>
          </p:cNvPr>
          <p:cNvSpPr/>
          <p:nvPr/>
        </p:nvSpPr>
        <p:spPr>
          <a:xfrm>
            <a:off x="463451" y="4184068"/>
            <a:ext cx="3592258" cy="547255"/>
          </a:xfrm>
          <a:prstGeom prst="roundRect">
            <a:avLst/>
          </a:prstGeom>
          <a:solidFill>
            <a:srgbClr val="C382AB"/>
          </a:solidFill>
          <a:ln>
            <a:solidFill>
              <a:srgbClr val="C382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Short Term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94CE8A-790C-4551-B583-4CB8BAB79B19}"/>
              </a:ext>
            </a:extLst>
          </p:cNvPr>
          <p:cNvSpPr/>
          <p:nvPr/>
        </p:nvSpPr>
        <p:spPr>
          <a:xfrm>
            <a:off x="4176469" y="4184068"/>
            <a:ext cx="3592258" cy="547255"/>
          </a:xfrm>
          <a:prstGeom prst="roundRect">
            <a:avLst/>
          </a:prstGeom>
          <a:solidFill>
            <a:srgbClr val="C382AB"/>
          </a:solidFill>
          <a:ln>
            <a:solidFill>
              <a:srgbClr val="C382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Medium Term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E8A31E-86E9-4A44-85BA-0D7B45ECE57C}"/>
              </a:ext>
            </a:extLst>
          </p:cNvPr>
          <p:cNvSpPr/>
          <p:nvPr/>
        </p:nvSpPr>
        <p:spPr>
          <a:xfrm>
            <a:off x="7889487" y="4184068"/>
            <a:ext cx="3592258" cy="547255"/>
          </a:xfrm>
          <a:prstGeom prst="roundRect">
            <a:avLst/>
          </a:prstGeom>
          <a:solidFill>
            <a:srgbClr val="C382AB"/>
          </a:solidFill>
          <a:ln>
            <a:solidFill>
              <a:srgbClr val="C382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Long Term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2BF88B-6721-4C04-9691-DB3FDD8F068C}"/>
              </a:ext>
            </a:extLst>
          </p:cNvPr>
          <p:cNvCxnSpPr>
            <a:cxnSpLocks/>
          </p:cNvCxnSpPr>
          <p:nvPr/>
        </p:nvCxnSpPr>
        <p:spPr>
          <a:xfrm>
            <a:off x="4120899" y="4184068"/>
            <a:ext cx="0" cy="2183824"/>
          </a:xfrm>
          <a:prstGeom prst="line">
            <a:avLst/>
          </a:prstGeom>
          <a:ln w="28575">
            <a:solidFill>
              <a:srgbClr val="3BC3DE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E5F287-367B-4A3B-BD34-0D8C2A8C5FEF}"/>
              </a:ext>
            </a:extLst>
          </p:cNvPr>
          <p:cNvCxnSpPr>
            <a:cxnSpLocks/>
          </p:cNvCxnSpPr>
          <p:nvPr/>
        </p:nvCxnSpPr>
        <p:spPr>
          <a:xfrm>
            <a:off x="7824296" y="4184068"/>
            <a:ext cx="0" cy="2183824"/>
          </a:xfrm>
          <a:prstGeom prst="line">
            <a:avLst/>
          </a:prstGeom>
          <a:ln w="28575">
            <a:solidFill>
              <a:srgbClr val="3BC3DE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F08135-210C-4C6A-A251-5A88C3A1F66F}"/>
              </a:ext>
            </a:extLst>
          </p:cNvPr>
          <p:cNvSpPr txBox="1"/>
          <p:nvPr/>
        </p:nvSpPr>
        <p:spPr>
          <a:xfrm>
            <a:off x="259306" y="4901036"/>
            <a:ext cx="359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Setting up clinic / hospital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Getting married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3BD940-D81E-4258-BAB9-C88DAAA7F8B9}"/>
              </a:ext>
            </a:extLst>
          </p:cNvPr>
          <p:cNvSpPr txBox="1"/>
          <p:nvPr/>
        </p:nvSpPr>
        <p:spPr>
          <a:xfrm>
            <a:off x="4237839" y="4901036"/>
            <a:ext cx="3592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Foreign vacation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Buy car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Buy home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D06E21-977F-4762-BEAA-8EE63EE1784E}"/>
              </a:ext>
            </a:extLst>
          </p:cNvPr>
          <p:cNvSpPr txBox="1"/>
          <p:nvPr/>
        </p:nvSpPr>
        <p:spPr>
          <a:xfrm>
            <a:off x="8007256" y="4901036"/>
            <a:ext cx="3592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Children’s education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Children’s marriage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Retirement</a:t>
            </a:r>
          </a:p>
        </p:txBody>
      </p:sp>
    </p:spTree>
    <p:extLst>
      <p:ext uri="{BB962C8B-B14F-4D97-AF65-F5344CB8AC3E}">
        <p14:creationId xmlns:p14="http://schemas.microsoft.com/office/powerpoint/2010/main" val="258854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97407-06F9-4F9C-BCC8-CAEF1DDB5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DURATION BASED INVESTMENTS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119F0-F320-4B0F-9BFA-37D8A67EC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E478-46F9-419A-A35D-2C99B3DE0679}" type="datetime1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D2DDE-0794-4DBE-ABB7-C6702C61C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CD6A4F-D753-4653-96CF-4BF9C90D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A585AF1B-74BF-49F8-9E03-7BE18FE3C8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300870"/>
              </p:ext>
            </p:extLst>
          </p:nvPr>
        </p:nvGraphicFramePr>
        <p:xfrm>
          <a:off x="477981" y="1507417"/>
          <a:ext cx="11236037" cy="312225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391645">
                  <a:extLst>
                    <a:ext uri="{9D8B030D-6E8A-4147-A177-3AD203B41FA5}">
                      <a16:colId xmlns:a16="http://schemas.microsoft.com/office/drawing/2014/main" val="1444789675"/>
                    </a:ext>
                  </a:extLst>
                </a:gridCol>
                <a:gridCol w="4844392">
                  <a:extLst>
                    <a:ext uri="{9D8B030D-6E8A-4147-A177-3AD203B41FA5}">
                      <a16:colId xmlns:a16="http://schemas.microsoft.com/office/drawing/2014/main" val="4110017788"/>
                    </a:ext>
                  </a:extLst>
                </a:gridCol>
              </a:tblGrid>
              <a:tr h="5203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Fund 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7295957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Savings Account/Liquid Funds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193108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3 Months - 1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Fixed Deposit/ Ultra Short Term Debt Funds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879649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1 - 4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Fixed Deposit/ Short Term Debt Funds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15890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4 - 7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Balanced Funds/Asset Allocation Funds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051157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&gt; 7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Equity Funds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568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14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BC26D8-82FB-445E-AA49-62A77D7C1EE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44330D-EA18-4254-AA95-EB4994853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Content Placeholder 10" descr="A close up of a person&#10;&#10;Description generated with very high confidence">
            <a:extLst>
              <a:ext uri="{FF2B5EF4-FFF2-40B4-BE49-F238E27FC236}">
                <a16:creationId xmlns:a16="http://schemas.microsoft.com/office/drawing/2014/main" id="{E34B306E-6EC0-437C-82A5-94FC6D759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66309"/>
            <a:ext cx="10905066" cy="512538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8C215D2-D295-47ED-A52F-00DFCC2107E5}"/>
              </a:ext>
            </a:extLst>
          </p:cNvPr>
          <p:cNvSpPr/>
          <p:nvPr/>
        </p:nvSpPr>
        <p:spPr>
          <a:xfrm>
            <a:off x="6954982" y="5098473"/>
            <a:ext cx="1981200" cy="651163"/>
          </a:xfrm>
          <a:prstGeom prst="rect">
            <a:avLst/>
          </a:prstGeom>
          <a:solidFill>
            <a:srgbClr val="0C0C0C"/>
          </a:solidFill>
          <a:ln>
            <a:solidFill>
              <a:srgbClr val="0C0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27C8CF-5B41-45E9-AE63-96BB8E36E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B2D39-4BF8-44B6-A254-DE1E20D65CF6}" type="datetime1">
              <a:rPr lang="en-IN" smtClean="0"/>
              <a:t>09-09-2024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51B89-4AE3-4AD8-B9FD-8CAA771E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7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6DEF5-60F1-4656-A33E-948811F17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9113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44CEF-1CF7-4888-97C6-45ADB0160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of COMPOUNDING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D89C94-49FF-47FA-8D86-3E3CC1A6A0FF}"/>
              </a:ext>
            </a:extLst>
          </p:cNvPr>
          <p:cNvSpPr txBox="1"/>
          <p:nvPr/>
        </p:nvSpPr>
        <p:spPr>
          <a:xfrm>
            <a:off x="1214987" y="1161458"/>
            <a:ext cx="35710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Jai and </a:t>
            </a:r>
            <a:r>
              <a:rPr lang="en-IN" sz="3200" b="1" dirty="0" err="1"/>
              <a:t>Veeru</a:t>
            </a:r>
            <a:r>
              <a:rPr lang="en-IN" sz="3200" b="1" dirty="0"/>
              <a:t> are doctors both in 30 years of age.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2E0340C-01C4-4C59-A0DE-AC80D840F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77202"/>
              </p:ext>
            </p:extLst>
          </p:nvPr>
        </p:nvGraphicFramePr>
        <p:xfrm>
          <a:off x="983671" y="3307280"/>
          <a:ext cx="10224657" cy="3394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3818">
                  <a:extLst>
                    <a:ext uri="{9D8B030D-6E8A-4147-A177-3AD203B41FA5}">
                      <a16:colId xmlns:a16="http://schemas.microsoft.com/office/drawing/2014/main" val="253389096"/>
                    </a:ext>
                  </a:extLst>
                </a:gridCol>
                <a:gridCol w="4322620">
                  <a:extLst>
                    <a:ext uri="{9D8B030D-6E8A-4147-A177-3AD203B41FA5}">
                      <a16:colId xmlns:a16="http://schemas.microsoft.com/office/drawing/2014/main" val="308865396"/>
                    </a:ext>
                  </a:extLst>
                </a:gridCol>
                <a:gridCol w="3408219">
                  <a:extLst>
                    <a:ext uri="{9D8B030D-6E8A-4147-A177-3AD203B41FA5}">
                      <a16:colId xmlns:a16="http://schemas.microsoft.com/office/drawing/2014/main" val="2029520691"/>
                    </a:ext>
                  </a:extLst>
                </a:gridCol>
              </a:tblGrid>
              <a:tr h="341806">
                <a:tc>
                  <a:txBody>
                    <a:bodyPr/>
                    <a:lstStyle/>
                    <a:p>
                      <a:pPr algn="ctr"/>
                      <a:endParaRPr lang="en-IN" sz="2000" b="1" dirty="0"/>
                    </a:p>
                  </a:txBody>
                  <a:tcPr>
                    <a:lnR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/>
                        <a:t>Dr.</a:t>
                      </a:r>
                      <a:r>
                        <a:rPr lang="en-IN" sz="2000" b="1" dirty="0"/>
                        <a:t> Jai</a:t>
                      </a:r>
                    </a:p>
                  </a:txBody>
                  <a:tcPr>
                    <a:lnL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/>
                        <a:t>Dr.</a:t>
                      </a:r>
                      <a:r>
                        <a:rPr lang="en-IN" sz="2000" b="1" dirty="0"/>
                        <a:t> </a:t>
                      </a:r>
                      <a:r>
                        <a:rPr lang="en-IN" sz="2000" b="1" dirty="0" err="1"/>
                        <a:t>Veeru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442854"/>
                  </a:ext>
                </a:extLst>
              </a:tr>
              <a:tr h="59955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 years</a:t>
                      </a:r>
                    </a:p>
                  </a:txBody>
                  <a:tcPr>
                    <a:lnL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 years</a:t>
                      </a:r>
                    </a:p>
                  </a:txBody>
                  <a:tcPr>
                    <a:lnL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683095"/>
                  </a:ext>
                </a:extLst>
              </a:tr>
              <a:tr h="59955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₹ 25,000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₹ 25,000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8299519"/>
                  </a:ext>
                </a:extLst>
              </a:tr>
              <a:tr h="59955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 years</a:t>
                      </a:r>
                    </a:p>
                  </a:txBody>
                  <a:tcPr>
                    <a:lnL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65 years</a:t>
                      </a:r>
                    </a:p>
                  </a:txBody>
                  <a:tcPr>
                    <a:lnL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739769"/>
                  </a:ext>
                </a:extLst>
              </a:tr>
              <a:tr h="59955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 years</a:t>
                      </a:r>
                    </a:p>
                  </a:txBody>
                  <a:tcPr>
                    <a:lnL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 years</a:t>
                      </a:r>
                    </a:p>
                  </a:txBody>
                  <a:tcPr>
                    <a:lnL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6616357"/>
                  </a:ext>
                </a:extLst>
              </a:tr>
              <a:tr h="59955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₹ 30 lacs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₹ 75 lacs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38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01280359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491FB6-FFE6-4992-90D8-E5F21240D11A}"/>
              </a:ext>
            </a:extLst>
          </p:cNvPr>
          <p:cNvSpPr/>
          <p:nvPr/>
        </p:nvSpPr>
        <p:spPr>
          <a:xfrm>
            <a:off x="1136073" y="3755948"/>
            <a:ext cx="2230582" cy="511252"/>
          </a:xfrm>
          <a:prstGeom prst="roundRect">
            <a:avLst/>
          </a:prstGeom>
          <a:gradFill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CCEC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Age at start of SIP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770FA5-3B20-46C7-B90C-80D9D7FF8770}"/>
              </a:ext>
            </a:extLst>
          </p:cNvPr>
          <p:cNvSpPr/>
          <p:nvPr/>
        </p:nvSpPr>
        <p:spPr>
          <a:xfrm>
            <a:off x="1136073" y="4337842"/>
            <a:ext cx="2230582" cy="511252"/>
          </a:xfrm>
          <a:prstGeom prst="roundRect">
            <a:avLst/>
          </a:prstGeom>
          <a:gradFill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CCEC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SIP amount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34C835-56B4-4FB3-8B8B-F10B02CCAB29}"/>
              </a:ext>
            </a:extLst>
          </p:cNvPr>
          <p:cNvSpPr/>
          <p:nvPr/>
        </p:nvSpPr>
        <p:spPr>
          <a:xfrm>
            <a:off x="1136073" y="4960740"/>
            <a:ext cx="2230582" cy="511252"/>
          </a:xfrm>
          <a:prstGeom prst="roundRect">
            <a:avLst/>
          </a:prstGeom>
          <a:gradFill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CCEC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Invests till age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8454CB-6CCE-4785-A1B8-231BB85F7641}"/>
              </a:ext>
            </a:extLst>
          </p:cNvPr>
          <p:cNvSpPr/>
          <p:nvPr/>
        </p:nvSpPr>
        <p:spPr>
          <a:xfrm>
            <a:off x="1136073" y="5542040"/>
            <a:ext cx="2230582" cy="511252"/>
          </a:xfrm>
          <a:prstGeom prst="roundRect">
            <a:avLst/>
          </a:prstGeom>
          <a:gradFill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CCEC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Total duration of SIP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74DE653-4FB7-46CD-BA6A-11A20F54A47A}"/>
              </a:ext>
            </a:extLst>
          </p:cNvPr>
          <p:cNvSpPr/>
          <p:nvPr/>
        </p:nvSpPr>
        <p:spPr>
          <a:xfrm>
            <a:off x="1136073" y="6167293"/>
            <a:ext cx="2230582" cy="511252"/>
          </a:xfrm>
          <a:prstGeom prst="roundRect">
            <a:avLst/>
          </a:prstGeom>
          <a:gradFill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CCEC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Total Amount Invested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74D9D2-7F92-4CB5-9E8F-D6833FF8D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957" y="960700"/>
            <a:ext cx="2407227" cy="23255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F9BF0-7714-44C9-B6A8-BCBB31E5B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AD00-EFB1-4BBD-93C2-0D2063A59155}" type="datetime1">
              <a:rPr lang="en-IN" smtClean="0"/>
              <a:t>09-09-2024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CD742-8C54-4E9D-9BE3-39AEEBC9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A0614-A838-4AC9-9184-2987C92D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1244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E6658-1522-45E9-9664-2DD431880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07" y="40011"/>
            <a:ext cx="9053382" cy="736928"/>
          </a:xfrm>
        </p:spPr>
        <p:txBody>
          <a:bodyPr>
            <a:noAutofit/>
          </a:bodyPr>
          <a:lstStyle/>
          <a:p>
            <a:r>
              <a:rPr lang="en-IN" sz="3200" dirty="0"/>
              <a:t>WHO DO YOU THINK WILL HAVE A BIGGER PORTFOLIO AT THE RETIREMENT AGE OF 65 YEARS?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0A96BA2-E43B-4DD3-BE7C-A255D7528B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547386"/>
              </p:ext>
            </p:extLst>
          </p:nvPr>
        </p:nvGraphicFramePr>
        <p:xfrm>
          <a:off x="526472" y="1260764"/>
          <a:ext cx="10266219" cy="484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9C85C10-9209-4A2F-B190-AC0A37411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437" y="1239724"/>
            <a:ext cx="5154126" cy="218927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B239C-C10F-4916-A1A1-CA4B5C8A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F46E6-B7D4-4CA1-B10E-131212C54E62}" type="datetime1">
              <a:rPr lang="en-IN" smtClean="0"/>
              <a:t>09-09-2024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23C07-2F50-4E49-BBEF-7CA3091D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CE17B-295C-43EA-BDC4-5EBFEB422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8" name="Scroll: Horizontal 7">
            <a:extLst>
              <a:ext uri="{FF2B5EF4-FFF2-40B4-BE49-F238E27FC236}">
                <a16:creationId xmlns:a16="http://schemas.microsoft.com/office/drawing/2014/main" id="{534A62CE-56D0-402E-829C-88347CCEBE97}"/>
              </a:ext>
            </a:extLst>
          </p:cNvPr>
          <p:cNvSpPr/>
          <p:nvPr/>
        </p:nvSpPr>
        <p:spPr>
          <a:xfrm>
            <a:off x="374073" y="6109855"/>
            <a:ext cx="11291455" cy="365125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dirty="0"/>
              <a:t>It is important to plan and start investment for your retirement the day you start earning</a:t>
            </a:r>
          </a:p>
        </p:txBody>
      </p:sp>
    </p:spTree>
    <p:extLst>
      <p:ext uri="{BB962C8B-B14F-4D97-AF65-F5344CB8AC3E}">
        <p14:creationId xmlns:p14="http://schemas.microsoft.com/office/powerpoint/2010/main" val="64668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1FB3-3CD9-47D8-9948-8C0468E6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7466F-AAB3-4966-A922-1B1D6A729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0EC6-53F8-434D-872A-E6AE3CDF74F9}" type="datetime1">
              <a:rPr lang="en-IN" smtClean="0"/>
              <a:t>09-09-2024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177E6-2A2D-4457-99AD-B819EEDF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10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BC39716-6007-470F-96CE-D71090134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1CFB2149-204D-4C94-BA00-99A887F145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5256211"/>
              </p:ext>
            </p:extLst>
          </p:nvPr>
        </p:nvGraphicFramePr>
        <p:xfrm>
          <a:off x="282053" y="1175262"/>
          <a:ext cx="11627894" cy="116045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18186">
                  <a:extLst>
                    <a:ext uri="{9D8B030D-6E8A-4147-A177-3AD203B41FA5}">
                      <a16:colId xmlns:a16="http://schemas.microsoft.com/office/drawing/2014/main" val="1993077275"/>
                    </a:ext>
                  </a:extLst>
                </a:gridCol>
                <a:gridCol w="2218186">
                  <a:extLst>
                    <a:ext uri="{9D8B030D-6E8A-4147-A177-3AD203B41FA5}">
                      <a16:colId xmlns:a16="http://schemas.microsoft.com/office/drawing/2014/main" val="1444789675"/>
                    </a:ext>
                  </a:extLst>
                </a:gridCol>
                <a:gridCol w="1681220">
                  <a:extLst>
                    <a:ext uri="{9D8B030D-6E8A-4147-A177-3AD203B41FA5}">
                      <a16:colId xmlns:a16="http://schemas.microsoft.com/office/drawing/2014/main" val="4110017788"/>
                    </a:ext>
                  </a:extLst>
                </a:gridCol>
                <a:gridCol w="2755151">
                  <a:extLst>
                    <a:ext uri="{9D8B030D-6E8A-4147-A177-3AD203B41FA5}">
                      <a16:colId xmlns:a16="http://schemas.microsoft.com/office/drawing/2014/main" val="1711640860"/>
                    </a:ext>
                  </a:extLst>
                </a:gridCol>
                <a:gridCol w="2755151">
                  <a:extLst>
                    <a:ext uri="{9D8B030D-6E8A-4147-A177-3AD203B41FA5}">
                      <a16:colId xmlns:a16="http://schemas.microsoft.com/office/drawing/2014/main" val="1821322175"/>
                    </a:ext>
                  </a:extLst>
                </a:gridCol>
              </a:tblGrid>
              <a:tr h="520375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Age (Years)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295957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SIP amount (Monthly)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IN" b="0" dirty="0"/>
                        <a:t>31,100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IN" b="0" dirty="0"/>
                        <a:t>57,225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₹</a:t>
                      </a:r>
                      <a:r>
                        <a:rPr lang="en-IN" b="0" dirty="0"/>
                        <a:t> 1,06,448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IN" b="0" dirty="0"/>
                        <a:t>2,02,172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193108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142FFE4F-4D26-486B-BDEC-19B170FE81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9234079"/>
              </p:ext>
            </p:extLst>
          </p:nvPr>
        </p:nvGraphicFramePr>
        <p:xfrm>
          <a:off x="4785998" y="3658890"/>
          <a:ext cx="2218186" cy="104075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18186">
                  <a:extLst>
                    <a:ext uri="{9D8B030D-6E8A-4147-A177-3AD203B41FA5}">
                      <a16:colId xmlns:a16="http://schemas.microsoft.com/office/drawing/2014/main" val="1993077275"/>
                    </a:ext>
                  </a:extLst>
                </a:gridCol>
              </a:tblGrid>
              <a:tr h="5203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295957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₹</a:t>
                      </a:r>
                      <a:r>
                        <a:rPr lang="en-IN" b="0" dirty="0"/>
                        <a:t> 17,000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193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89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5B7C-C81A-4CE6-8974-C2CF1752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INVESTMENTS MISTAKES / MYTHS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9C111-1756-45BB-9187-A164B9344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9750" indent="-457200">
              <a:buFont typeface="Wingdings" panose="05000000000000000000" pitchFamily="2" charset="2"/>
              <a:buChar char="§"/>
            </a:pPr>
            <a:r>
              <a:rPr lang="en-IN" dirty="0"/>
              <a:t>Too many funds. Diversification or </a:t>
            </a:r>
            <a:r>
              <a:rPr lang="en-IN" dirty="0" err="1"/>
              <a:t>Di</a:t>
            </a:r>
            <a:r>
              <a:rPr lang="en-IN" dirty="0" err="1">
                <a:solidFill>
                  <a:srgbClr val="FF0000"/>
                </a:solidFill>
              </a:rPr>
              <a:t>WORSI</a:t>
            </a:r>
            <a:r>
              <a:rPr lang="en-IN" dirty="0" err="1"/>
              <a:t>fication</a:t>
            </a:r>
            <a:r>
              <a:rPr lang="en-IN" dirty="0"/>
              <a:t>???</a:t>
            </a:r>
          </a:p>
          <a:p>
            <a:pPr marL="539750" indent="-457200">
              <a:buFont typeface="Wingdings" panose="05000000000000000000" pitchFamily="2" charset="2"/>
              <a:buChar char="§"/>
            </a:pPr>
            <a:r>
              <a:rPr lang="en-IN" dirty="0"/>
              <a:t>Funds with the same mutual fund category / Same mutual fund company</a:t>
            </a:r>
          </a:p>
          <a:p>
            <a:pPr marL="539750" indent="-457200">
              <a:buFont typeface="Wingdings" panose="05000000000000000000" pitchFamily="2" charset="2"/>
              <a:buChar char="§"/>
            </a:pPr>
            <a:r>
              <a:rPr lang="en-IN" dirty="0"/>
              <a:t>Not knowing scheme name/category</a:t>
            </a:r>
          </a:p>
          <a:p>
            <a:pPr marL="539750" indent="-457200">
              <a:buFont typeface="Wingdings" panose="05000000000000000000" pitchFamily="2" charset="2"/>
              <a:buChar char="§"/>
            </a:pPr>
            <a:r>
              <a:rPr lang="en-IN" dirty="0"/>
              <a:t>Chasing the best mutual fund</a:t>
            </a:r>
          </a:p>
          <a:p>
            <a:pPr marL="539750" indent="-457200">
              <a:buFont typeface="Wingdings" panose="05000000000000000000" pitchFamily="2" charset="2"/>
              <a:buChar char="§"/>
            </a:pPr>
            <a:r>
              <a:rPr lang="en-IN" dirty="0"/>
              <a:t>Churning in the name of rebalancing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8FE7A-A727-491D-9546-2445CAB0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3C3D-2576-4CC4-BD54-766E90A92DCB}" type="datetime1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0C025-0756-47C4-A7FC-299E855A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81946-6FC7-4341-8D84-9F02B485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185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76560-A99A-4C13-9200-5691504EB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IDEAL ASSET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21C83-CB78-4F38-89F1-A69C77397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2913" indent="-360363">
              <a:buFont typeface="Wingdings" panose="05000000000000000000" pitchFamily="2" charset="2"/>
              <a:buChar char="§"/>
            </a:pPr>
            <a:r>
              <a:rPr lang="en-IN" dirty="0"/>
              <a:t>1 Large Cap        (40%)</a:t>
            </a:r>
          </a:p>
          <a:p>
            <a:pPr marL="442913" indent="-360363">
              <a:buFont typeface="Wingdings" panose="05000000000000000000" pitchFamily="2" charset="2"/>
              <a:buChar char="§"/>
            </a:pPr>
            <a:r>
              <a:rPr lang="en-IN" dirty="0"/>
              <a:t>1 Mid Cap          ( 20%)</a:t>
            </a:r>
          </a:p>
          <a:p>
            <a:pPr marL="442913" indent="-360363">
              <a:buFont typeface="Wingdings" panose="05000000000000000000" pitchFamily="2" charset="2"/>
              <a:buChar char="§"/>
            </a:pPr>
            <a:r>
              <a:rPr lang="en-IN" dirty="0"/>
              <a:t>1 Small Cap       ( 20%)</a:t>
            </a:r>
          </a:p>
          <a:p>
            <a:pPr marL="442913" indent="-360363">
              <a:buFont typeface="Wingdings" panose="05000000000000000000" pitchFamily="2" charset="2"/>
              <a:buChar char="§"/>
            </a:pPr>
            <a:r>
              <a:rPr lang="en-IN" dirty="0"/>
              <a:t>1 Multi Cap       (10%)</a:t>
            </a:r>
          </a:p>
          <a:p>
            <a:pPr marL="442913" indent="-360363">
              <a:buFont typeface="Wingdings" panose="05000000000000000000" pitchFamily="2" charset="2"/>
              <a:buChar char="§"/>
            </a:pPr>
            <a:r>
              <a:rPr lang="en-IN" dirty="0"/>
              <a:t>1 Sector Fund   ( 10%)</a:t>
            </a:r>
          </a:p>
          <a:p>
            <a:pPr marL="442913" indent="-360363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AB3F7-A8A5-40CA-91A9-D53FD51B9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7B1B6-F7AB-48A0-B364-896D7C96755D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31DE2-29A1-4CCA-BA3E-4B0F17C8E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12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915C1-058A-4181-9832-4C11A9E59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351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4FF931AA-23B0-4297-8301-DD1D75D61A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035225"/>
              </p:ext>
            </p:extLst>
          </p:nvPr>
        </p:nvGraphicFramePr>
        <p:xfrm>
          <a:off x="1770744" y="1031164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94EF912-1399-4167-A176-D5B13B6D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SMART INVESTING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F8D30C-80DF-48E8-86BA-14839907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A681C-C89A-4CFA-9534-24667D5E5BD2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F087A-3F4F-4E93-8D5C-3D59928D4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651D0-BA66-49AA-8D23-9DB891615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13</a:t>
            </a:fld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A12CFE-2507-432B-BD25-D6B62EE67D32}"/>
              </a:ext>
            </a:extLst>
          </p:cNvPr>
          <p:cNvCxnSpPr>
            <a:cxnSpLocks/>
          </p:cNvCxnSpPr>
          <p:nvPr/>
        </p:nvCxnSpPr>
        <p:spPr>
          <a:xfrm flipV="1">
            <a:off x="4457361" y="1567543"/>
            <a:ext cx="2785268" cy="2472485"/>
          </a:xfrm>
          <a:prstGeom prst="straightConnector1">
            <a:avLst/>
          </a:prstGeom>
          <a:ln>
            <a:solidFill>
              <a:srgbClr val="0C0C0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8DDE4AE-6E66-42D2-BD79-403F52C5CC1A}"/>
              </a:ext>
            </a:extLst>
          </p:cNvPr>
          <p:cNvSpPr txBox="1"/>
          <p:nvPr/>
        </p:nvSpPr>
        <p:spPr>
          <a:xfrm>
            <a:off x="4500905" y="2157454"/>
            <a:ext cx="177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17 lacs surplus accumulated</a:t>
            </a:r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C8AD0719-7723-447E-87A0-C4FB370953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4375626"/>
              </p:ext>
            </p:extLst>
          </p:nvPr>
        </p:nvGraphicFramePr>
        <p:xfrm>
          <a:off x="211145" y="1031164"/>
          <a:ext cx="3282492" cy="168083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41246">
                  <a:extLst>
                    <a:ext uri="{9D8B030D-6E8A-4147-A177-3AD203B41FA5}">
                      <a16:colId xmlns:a16="http://schemas.microsoft.com/office/drawing/2014/main" val="1993077275"/>
                    </a:ext>
                  </a:extLst>
                </a:gridCol>
                <a:gridCol w="1641246">
                  <a:extLst>
                    <a:ext uri="{9D8B030D-6E8A-4147-A177-3AD203B41FA5}">
                      <a16:colId xmlns:a16="http://schemas.microsoft.com/office/drawing/2014/main" val="2909192521"/>
                    </a:ext>
                  </a:extLst>
                </a:gridCol>
              </a:tblGrid>
              <a:tr h="520375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PPF (Yearly)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IN" b="0" dirty="0"/>
                        <a:t>1,50,000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295957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Duration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/>
                        <a:t>30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193108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/>
                        <a:t>Total amount invested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IN" b="0" dirty="0"/>
                        <a:t>45,00,000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042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8752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9474D-EE2A-4847-9962-55C7E7055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Existing Investments vs Fresh Investments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0BE9-A4A4-4BA9-A512-66D91EDE3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F1B89-56BA-49D4-887C-78D5624A945B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ECD2B-2EB7-4A6A-A53E-ED749467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14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1109C-B87F-4BDD-895B-79D026758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2BB19E7A-AE6C-4857-88E6-87D719D6D5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3542133"/>
              </p:ext>
            </p:extLst>
          </p:nvPr>
        </p:nvGraphicFramePr>
        <p:xfrm>
          <a:off x="408243" y="1091101"/>
          <a:ext cx="10121212" cy="364262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060606">
                  <a:extLst>
                    <a:ext uri="{9D8B030D-6E8A-4147-A177-3AD203B41FA5}">
                      <a16:colId xmlns:a16="http://schemas.microsoft.com/office/drawing/2014/main" val="1993077275"/>
                    </a:ext>
                  </a:extLst>
                </a:gridCol>
                <a:gridCol w="5060606">
                  <a:extLst>
                    <a:ext uri="{9D8B030D-6E8A-4147-A177-3AD203B41FA5}">
                      <a16:colId xmlns:a16="http://schemas.microsoft.com/office/drawing/2014/main" val="276092239"/>
                    </a:ext>
                  </a:extLst>
                </a:gridCol>
              </a:tblGrid>
              <a:tr h="52037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Particulars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480414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₹ </a:t>
                      </a:r>
                      <a:r>
                        <a:rPr lang="en-IN" b="0" dirty="0"/>
                        <a:t>30,000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295957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193108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720075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Corpus Accumulated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 Crores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115270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Fresh Investments (Annual)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3.60 Lacs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345498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r>
                        <a:rPr lang="en-IN" dirty="0"/>
                        <a:t>% of 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744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27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01677-330F-4011-AD03-7EFE313FC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EBB1F-76C3-4DC3-9273-71C5AB656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2913" indent="-360363">
              <a:buFont typeface="Wingdings" panose="05000000000000000000" pitchFamily="2" charset="2"/>
              <a:buChar char="§"/>
            </a:pPr>
            <a:r>
              <a:rPr lang="en-IN" dirty="0"/>
              <a:t>Life Insurance</a:t>
            </a:r>
          </a:p>
          <a:p>
            <a:pPr marL="442913" indent="-360363">
              <a:buFont typeface="Wingdings" panose="05000000000000000000" pitchFamily="2" charset="2"/>
              <a:buChar char="§"/>
            </a:pPr>
            <a:r>
              <a:rPr lang="en-IN" dirty="0"/>
              <a:t>Medical Insurance</a:t>
            </a:r>
          </a:p>
          <a:p>
            <a:pPr marL="442913" indent="-360363">
              <a:buFont typeface="Wingdings" panose="05000000000000000000" pitchFamily="2" charset="2"/>
              <a:buChar char="§"/>
            </a:pPr>
            <a:r>
              <a:rPr lang="en-IN" dirty="0"/>
              <a:t>Emergency Fund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698AF-0954-458A-942D-5AB924A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9E01-578E-4DCD-A9E0-C488DA7705D2}" type="datetime1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E90D3-D114-432C-B4F0-5A6090E7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534BA-D7E0-4E8B-9597-A8025FB46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964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TERM PLAN VS TRADITIONAL PLANS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D68C0-0492-428D-8E02-3481CA05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2C24-F530-44DC-8B5C-E549E537EF94}" type="datetime1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4348C-BA86-47B6-8BD7-301F7FF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64ABF-3D82-4437-88CF-060EDB46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16</a:t>
            </a:fld>
            <a:endParaRPr lang="en-IN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FB7F582A-73F8-424F-8D59-A97A691D3C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617362"/>
              </p:ext>
            </p:extLst>
          </p:nvPr>
        </p:nvGraphicFramePr>
        <p:xfrm>
          <a:off x="464127" y="1087312"/>
          <a:ext cx="10121211" cy="364262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373737">
                  <a:extLst>
                    <a:ext uri="{9D8B030D-6E8A-4147-A177-3AD203B41FA5}">
                      <a16:colId xmlns:a16="http://schemas.microsoft.com/office/drawing/2014/main" val="1993077275"/>
                    </a:ext>
                  </a:extLst>
                </a:gridCol>
                <a:gridCol w="3373737">
                  <a:extLst>
                    <a:ext uri="{9D8B030D-6E8A-4147-A177-3AD203B41FA5}">
                      <a16:colId xmlns:a16="http://schemas.microsoft.com/office/drawing/2014/main" val="276092239"/>
                    </a:ext>
                  </a:extLst>
                </a:gridCol>
                <a:gridCol w="3373737">
                  <a:extLst>
                    <a:ext uri="{9D8B030D-6E8A-4147-A177-3AD203B41FA5}">
                      <a16:colId xmlns:a16="http://schemas.microsoft.com/office/drawing/2014/main" val="364197552"/>
                    </a:ext>
                  </a:extLst>
                </a:gridCol>
              </a:tblGrid>
              <a:tr h="5203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Particulars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dirty="0">
                          <a:effectLst/>
                        </a:rPr>
                        <a:t>Term Plan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u="none" strike="noStrike" dirty="0">
                          <a:effectLst/>
                        </a:rPr>
                        <a:t>LIC Jeevan Anand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6480414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u="none" strike="noStrike" dirty="0">
                          <a:effectLst/>
                        </a:rPr>
                        <a:t>Cover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 Crore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 Crore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7295957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Premium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34,000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3,71,000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8193108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Surplus (Yearly)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3,37,000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9720075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Total Premium (For 30 years)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8,58,000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1,11,30,000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16115270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Corpus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₹ 8,13,29,115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₹ 3,57,00,000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3345498"/>
                  </a:ext>
                </a:extLst>
              </a:tr>
              <a:tr h="520375">
                <a:tc>
                  <a:txBody>
                    <a:bodyPr/>
                    <a:lstStyle/>
                    <a:p>
                      <a:pPr algn="l" fontAlgn="b"/>
                      <a:endParaRPr lang="en-IN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2744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422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DD798-4F91-1834-A9FF-688A796C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B0DCA-B12A-372F-C43E-FACCFD5A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84A91-6E5B-4D90-1183-EE13E8856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3FEF-07E8-4820-958D-3E71E172BB64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C0029-D414-9784-9592-7D5A452BC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E9359-836E-6315-CB1F-881DF61A9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413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D1D1-A9C1-4831-AD78-76525856E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Financial Planning and Products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56A5F-A4BF-4E0F-886C-2285B83DF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u="sng" dirty="0">
                <a:uFill>
                  <a:solidFill>
                    <a:srgbClr val="31CEE7"/>
                  </a:solidFill>
                </a:uFill>
              </a:rPr>
              <a:t>Financial Planning Checklists:</a:t>
            </a:r>
          </a:p>
          <a:p>
            <a:pPr marL="539750" indent="-457200">
              <a:buFont typeface="Wingdings" panose="05000000000000000000" pitchFamily="2" charset="2"/>
              <a:buChar char="ü"/>
            </a:pPr>
            <a:r>
              <a:rPr lang="en-IN" dirty="0"/>
              <a:t>Life Insurance</a:t>
            </a:r>
          </a:p>
          <a:p>
            <a:pPr marL="539750" indent="-457200">
              <a:buFont typeface="Wingdings" panose="05000000000000000000" pitchFamily="2" charset="2"/>
              <a:buChar char="ü"/>
            </a:pPr>
            <a:r>
              <a:rPr lang="en-IN" dirty="0"/>
              <a:t>Health Insurance</a:t>
            </a:r>
          </a:p>
          <a:p>
            <a:pPr marL="539750" indent="-457200">
              <a:buFont typeface="Wingdings" panose="05000000000000000000" pitchFamily="2" charset="2"/>
              <a:buChar char="ü"/>
            </a:pPr>
            <a:r>
              <a:rPr lang="en-IN" dirty="0"/>
              <a:t>Emergency Fund</a:t>
            </a:r>
          </a:p>
          <a:p>
            <a:pPr marL="539750" indent="-457200">
              <a:buFont typeface="Wingdings" panose="05000000000000000000" pitchFamily="2" charset="2"/>
              <a:buChar char="ü"/>
            </a:pPr>
            <a:r>
              <a:rPr lang="en-IN" dirty="0"/>
              <a:t>Mutual Funds SIP / Lumpsum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dirty="0"/>
          </a:p>
          <a:p>
            <a:pPr marL="0" indent="0">
              <a:buNone/>
            </a:pPr>
            <a:r>
              <a:rPr lang="en-IN" u="sng" dirty="0">
                <a:uFill>
                  <a:solidFill>
                    <a:srgbClr val="AD4284"/>
                  </a:solidFill>
                </a:uFill>
              </a:rPr>
              <a:t>Important Tips: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Never Ignore Inflation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Do not underestimate the power of COMPOUNDING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61DC9-2E07-4200-AB8F-8CCA5082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643A0-1024-43A9-8829-08763A79522B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F16DE-B3F0-498D-B15B-DBAE99AC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18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C907-D81C-4336-A565-5542ED9B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3833D3-7E7C-43D0-A7A7-B0EBB39A7DB7}"/>
              </a:ext>
            </a:extLst>
          </p:cNvPr>
          <p:cNvSpPr/>
          <p:nvPr/>
        </p:nvSpPr>
        <p:spPr>
          <a:xfrm>
            <a:off x="259307" y="1129145"/>
            <a:ext cx="2244437" cy="62345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Financial Planning</a:t>
            </a:r>
          </a:p>
        </p:txBody>
      </p:sp>
      <p:sp>
        <p:nvSpPr>
          <p:cNvPr id="8" name="Equals 7">
            <a:extLst>
              <a:ext uri="{FF2B5EF4-FFF2-40B4-BE49-F238E27FC236}">
                <a16:creationId xmlns:a16="http://schemas.microsoft.com/office/drawing/2014/main" id="{A169A8BA-FBB1-4241-9BB6-8CCA7B42FBB5}"/>
              </a:ext>
            </a:extLst>
          </p:cNvPr>
          <p:cNvSpPr/>
          <p:nvPr/>
        </p:nvSpPr>
        <p:spPr>
          <a:xfrm>
            <a:off x="3312936" y="1129145"/>
            <a:ext cx="625584" cy="622800"/>
          </a:xfrm>
          <a:prstGeom prst="mathEqual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9" name="Plus Sign 8">
            <a:extLst>
              <a:ext uri="{FF2B5EF4-FFF2-40B4-BE49-F238E27FC236}">
                <a16:creationId xmlns:a16="http://schemas.microsoft.com/office/drawing/2014/main" id="{E82AC84D-8972-410E-908B-7A4523ECCC86}"/>
              </a:ext>
            </a:extLst>
          </p:cNvPr>
          <p:cNvSpPr/>
          <p:nvPr/>
        </p:nvSpPr>
        <p:spPr>
          <a:xfrm>
            <a:off x="7840608" y="1129145"/>
            <a:ext cx="625584" cy="622800"/>
          </a:xfrm>
          <a:prstGeom prst="mathPlus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5556E5-A5FC-4D02-823E-8FF612BC85CB}"/>
              </a:ext>
            </a:extLst>
          </p:cNvPr>
          <p:cNvSpPr/>
          <p:nvPr/>
        </p:nvSpPr>
        <p:spPr>
          <a:xfrm>
            <a:off x="4785016" y="1141054"/>
            <a:ext cx="2246400" cy="622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Risk Protection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3D9B56-4BA9-4AFC-B56D-1201CB6FC2B3}"/>
              </a:ext>
            </a:extLst>
          </p:cNvPr>
          <p:cNvSpPr/>
          <p:nvPr/>
        </p:nvSpPr>
        <p:spPr>
          <a:xfrm>
            <a:off x="9312689" y="1141054"/>
            <a:ext cx="2246400" cy="622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Investment</a:t>
            </a:r>
          </a:p>
        </p:txBody>
      </p:sp>
    </p:spTree>
    <p:extLst>
      <p:ext uri="{BB962C8B-B14F-4D97-AF65-F5344CB8AC3E}">
        <p14:creationId xmlns:p14="http://schemas.microsoft.com/office/powerpoint/2010/main" val="3067795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6398-B750-42C8-BE13-F86D28E58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076B2-F6E0-4F05-AB67-F4D72986C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9263" indent="-352425">
              <a:buFont typeface="Wingdings" panose="05000000000000000000" pitchFamily="2" charset="2"/>
              <a:buChar char="§"/>
            </a:pPr>
            <a:r>
              <a:rPr lang="en-IN" dirty="0"/>
              <a:t>Do not mix Insurance with Investments</a:t>
            </a:r>
          </a:p>
          <a:p>
            <a:pPr marL="449263" indent="-352425">
              <a:buFont typeface="Wingdings" panose="05000000000000000000" pitchFamily="2" charset="2"/>
              <a:buChar char="§"/>
            </a:pPr>
            <a:r>
              <a:rPr lang="en-IN" dirty="0"/>
              <a:t>Use short term money for short term goals, long term money for long term goals</a:t>
            </a:r>
          </a:p>
          <a:p>
            <a:pPr marL="449263" indent="-352425">
              <a:buFont typeface="Wingdings" panose="05000000000000000000" pitchFamily="2" charset="2"/>
              <a:buChar char="§"/>
            </a:pPr>
            <a:r>
              <a:rPr lang="en-IN" dirty="0"/>
              <a:t>As you near a goal, shift money from equity to debt to reduce risk</a:t>
            </a:r>
          </a:p>
          <a:p>
            <a:pPr marL="449263" indent="-352425">
              <a:buFont typeface="Wingdings" panose="05000000000000000000" pitchFamily="2" charset="2"/>
              <a:buChar char="§"/>
            </a:pPr>
            <a:r>
              <a:rPr lang="en-IN" dirty="0"/>
              <a:t>Monitor your portfolio regularly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404B-1B15-4943-AA95-1998A1AB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285AD-CAD5-4375-AA6B-448430CEF114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F624C-DF1D-4425-B96D-5B3167F1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19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F3DD9-95C5-4A57-9661-5C42CDF0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249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36B5D6C-4F49-409E-9989-A3E9B948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IN" dirty="0">
                <a:solidFill>
                  <a:srgbClr val="AD4284"/>
                </a:solidFill>
              </a:rPr>
              <a:t>Q&amp;A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CB348B-4D78-4C57-856C-4DC95CBBF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289D9-88C0-42EA-8D24-C8774A3BD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83FEF-07E8-4820-958D-3E71E172BB64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4DED2-1CF8-48BB-B377-6AA93049A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E6696-CFFF-4F00-9FBC-A06867F98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166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AD4284"/>
                </a:solidFill>
              </a:rPr>
              <a:t>THANK YOU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25E39-B0F0-4D1C-890A-AC18EC54EE23}" type="datetime1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Your Financial Companion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49C4-1215-479D-986C-E1C7F2305F59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241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2260</TotalTime>
  <Words>671</Words>
  <Application>Microsoft Office PowerPoint</Application>
  <PresentationFormat>Widescreen</PresentationFormat>
  <Paragraphs>246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Office Theme</vt:lpstr>
      <vt:lpstr>CorelDRAW</vt:lpstr>
      <vt:lpstr>FINANCIAL PLANNING for DOCTORS</vt:lpstr>
      <vt:lpstr>Rules of Investments</vt:lpstr>
      <vt:lpstr>INVESTMENT OPTIONS</vt:lpstr>
      <vt:lpstr>INVESTMENT PROCESS</vt:lpstr>
      <vt:lpstr>FINANCIAL GOALS</vt:lpstr>
      <vt:lpstr>DURATION BASED INVESTMENTS</vt:lpstr>
      <vt:lpstr>PowerPoint Presentation</vt:lpstr>
      <vt:lpstr>POWER of COMPOUNDING</vt:lpstr>
      <vt:lpstr>WHO DO YOU THINK WILL HAVE A BIGGER PORTFOLIO AT THE RETIREMENT AGE OF 65 YEARS?</vt:lpstr>
      <vt:lpstr>PowerPoint Presentation</vt:lpstr>
      <vt:lpstr>INVESTMENTS MISTAKES / MYTHS</vt:lpstr>
      <vt:lpstr>IDEAL ASSET ALLOCATION</vt:lpstr>
      <vt:lpstr>SMART INVESTING</vt:lpstr>
      <vt:lpstr>Existing Investments vs Fresh Investments</vt:lpstr>
      <vt:lpstr>RISK PROTECTION</vt:lpstr>
      <vt:lpstr>TERM PLAN VS TRADITIONAL PLANS</vt:lpstr>
      <vt:lpstr>PowerPoint Presentation</vt:lpstr>
      <vt:lpstr>Financial Planning and Products </vt:lpstr>
      <vt:lpstr>KEY TAKEAWAYS</vt:lpstr>
      <vt:lpstr>Q&amp;A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Rupali Singhania</dc:creator>
  <cp:lastModifiedBy>Nimita Arora</cp:lastModifiedBy>
  <cp:revision>176</cp:revision>
  <cp:lastPrinted>2018-04-21T13:51:30Z</cp:lastPrinted>
  <dcterms:created xsi:type="dcterms:W3CDTF">2018-03-31T11:03:18Z</dcterms:created>
  <dcterms:modified xsi:type="dcterms:W3CDTF">2024-09-09T10:31:12Z</dcterms:modified>
</cp:coreProperties>
</file>